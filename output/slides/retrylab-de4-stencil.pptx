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tài 4: hệ gợi ý bài tập lập trình cá nhân hóa dựa trên mô hình nhận thức của sinh viên và học tăng cường. Nhóm tự tìm dữ liệu thật (ACcoding, lập trình C); không có dữ liệu của thầy và không thử nghiệm trên sinh viên, nên phần chính sách được đánh giá bằng mô phỏng.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thành phần kỹ thuật của đề: mô hình nhận thức, khung MDP và học chính sách. Cột cuối là ràng buộc thực tế; nó quyết định vì sao chúng em đánh giá chính sách trong nhiều thế giới mô phỏng thay vì trên người thật.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thật → mô hình người học ước lượng xác suất làm đúng → bài toán chọn bài viết thành MDP → tác tử DQN/PPO học chính sách → đánh giá trong 9 thế giới, có một thế giới không ai học được →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Protocol được khóa trước khi nạp quần thể này; mọi con số trong bài và trong app sinh từ hai run có mã băm (accoding-learner-v3, accoding-policy-v3).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IRT không có số hạng học; AFM cộng thêm phần học theo số lần luyện; PFA tách lần đúng và lần sai. Đây là các thế giới "có học ẩn" dùng để đánh giá.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Đúng gợi ý của đề: cây định danh rút gọn dựa trên entropy. Trong app, màn Học viên hiện đường đi của cây cho bài được gợi ý, ví dụ "tỉ lệ vượt qua của bài ≥ 0,75 và tỉ lệ đúng của học viên 0,40–0,55 thì P(đúng) = 77%".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mô hình học được cho AUC 0,775–0,776 trên 926 học viên chưa dùng khi huấn luyện; ID3 thấp hơn chút nhưng đọc được. Dự báo tốt như nhau không có nghĩa là mô tả việc học giống nhau: đó là điểm mấu chốt của phần sau.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Mức DKT thô phụ thuộc độ khó của bài trong từng kỹ năng (bài vòng lặp vốn khó), nên app so với trung bình lớp để chỉ ra kỹ năng yếu riêng của học viên.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yêu cầu thưởng theo cải thiện điểm và thời gian giải. Log ACcoding không có thời gian làm bài đáng tin, nên chi phí được đo bằng số lần nộp thêm; đây là giới hạn đã ghi rõ.</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Double DQN thuộc họ Q-learning: mạng chính chọn hành động, mạng đích đánh giá, giảm ước lượng quá cao. PPO học trực tiếp xác suất chọn bài với hàm mục tiêu cắt (clip 0,2). Siêu tham số cố định trước, không chọn checkpoint theo kết quả.</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điều kiện huấn luyện khác nhau ở nơi tác tử tập luyện. Tác tử chỉ tập trong thế giới nhóm A (DKT-A, AFM-A, và SAKT-A, PFA-A khi trộn); nhóm B hoàn toàn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Lợi thế co lại dần khi thế giới đánh giá càng khác bộ mô phỏng huấn luyện; ở họ thế giới có học ẩn gần như bằng 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IRT-B là đối chứng âm: không có số hạng học nên tiến bộ thật luôn bằng 0. Vậy mà tracker DKT vẫn báo tăng hơn 30 điểm. Phần lớn đến từ "độ trôi": DKT tự kỳ vọng học viên giỏi lên sau mỗi bài, trước cả khi biết kết quả.</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chính sách đều tạo tiến bộ ảo, nhưng tác tử học từ thưởng DKT tạo nhiều nhất: chúng đã học cách làm đẹp con số của tracker.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Nếu chỉ chấm chính sách bằng chính bộ mô phỏng đã huấn luyện, ta sẽ chọn đúng chính sách tạo nhiều tiến bộ ảo nhất.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mệnh đề trong bài báo: một mô hình Bayes nhất quán mà không có học thì độ trôi bằng 0; và trong chính bộ mô phỏng, tiến bộ kỳ vọng đúng bằng độ trôi tích lũy. DKT có độ trôi dương nên luôn "thấy" học viên tiến bộ.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 thuyết và tiêu chí được viết trước khi chạy; các phân tích khác (độ ổn định thứ hạng, trường hợp xấu nhất) được ghi là thăm dò.</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Phiên mẫu của L035 ở AFM-B: tiến bộ thật +3,7, tracker báo +14,6. Kết luận an toàn: đừng tin con số của tracker khi chưa có thế giới độc lập và đối chứng âm.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 kiểm tra mã băm của hai run v3 trước khi hiện số liệu; mọi giải thích và phiên học được tính lại bằng chính mã nghiên cứu.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buổi demo, bấm "Đối chứng âm" để thấy tiến bộ thật bằng 0 trong khi tracker báo tăng.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đồ nhiệt là tóm tắt toàn bộ thực nghiệm; bảng giả thuyết nằm ngay bên dưới.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gợi ý bằng Double DQN huấn luyện trên người học mô phỏng. C: gợi ý bằng quy tắc vùng phát triển gần (khoảng 65%), ghi rõ không phải mô hình học; nhãn kỹ năng theo nhóm ACcoding nhưng chưa kiểm chứng chuyển giao.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rõ phạm vi: hệ thống chạy được trọn chuỗi đề 4, và nghiên cứu cho thấy cách đánh giá phổ biến dễ đánh lừa.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Thông điệp mang về: điểm tracker tăng chưa chắc là học được. Cảm ơn thầy và các bạn đã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2103120"/>
            <a:ext cx="10515600" cy="1554480"/>
          </a:xfrm>
        </p:spPr>
        <p:txBody>
          <a:bodyPr anchor="b"/>
          <a:lstStyle>
            <a:lvl1pPr algn="l" marL="0" indent="0">
              <a:buNone/>
              <a:defRPr sz="4400">
                <a:solidFill>
                  <a:srgbClr val="FFFFFF"/>
                </a:solidFill>
              </a:defRPr>
            </a:lvl1pPr>
          </a:lstStyle>
          <a:p>
            <a:r>
              <a:rPr lang="en-US" smtClean="0"/>
              <a:t>Click to edit Master title style</a:t>
            </a:r>
            <a:endParaRPr lang="en-US"/>
          </a:p>
        </p:txBody>
      </p:sp>
      <p:sp>
        <p:nvSpPr>
          <p:cNvPr id="3" name="Subtitle 2"/>
          <p:cNvSpPr>
            <a:spLocks noGrp="1"/>
          </p:cNvSpPr>
          <p:nvPr>
            <p:ph type="subTitle" idx="1"/>
          </p:nvPr>
        </p:nvSpPr>
        <p:spPr>
          <a:xfrm>
            <a:off x="822960" y="3794760"/>
            <a:ext cx="10515600" cy="1463040"/>
          </a:xfrm>
        </p:spPr>
        <p:txBody>
          <a:bodyPr anchor="t"/>
          <a:lstStyle>
            <a:lvl1pPr algn="l" marL="0" indent="0">
              <a:buNone/>
              <a:defRPr sz="2000">
                <a:solidFill>
                  <a:srgbClr val="BDBDBD"/>
                </a:solidFill>
              </a:defRPr>
            </a:lvl1pPr>
          </a:lstStyle>
          <a:p>
            <a:r>
              <a:rPr lang="en-US" smtClean="0"/>
              <a:t>Click to edit Master subtitle style</a:t>
            </a:r>
            <a:endParaRPr lang="en-US"/>
          </a:p>
        </p:txBody>
      </p:sp>
      <p:sp>
        <p:nvSpPr>
          <p:cNvPr id="4" name="Date Placeholder 3"/>
          <p:cNvSpPr>
            <a:spLocks noGrp="1"/>
          </p:cNvSpPr>
          <p:nvPr>
            <p:ph type="dt" sz="half" idx="10"/>
          </p:nvPr>
        </p:nvSpPr>
        <p:spPr/>
        <p:txBody>
          <a:bodyPr anchor="t"/>
          <a:lstStyle>
            <a:lvl1pPr algn="l" marL="0" indent="0">
              <a:buNone/>
              <a:defRPr sz="2000">
                <a:solidFill>
                  <a:srgbClr val="BDBDBD"/>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nchor="t"/>
          <a:lstStyle>
            <a:lvl1pPr algn="l" marL="0" indent="0">
              <a:buNone/>
              <a:defRPr sz="2000">
                <a:solidFill>
                  <a:srgbClr val="BDBDBD"/>
                </a:solidFill>
              </a:defRPr>
            </a:lvl1pPr>
          </a:lstStyle>
          <a:p>
            <a:endParaRPr lang="en-US"/>
          </a:p>
        </p:txBody>
      </p:sp>
      <p:sp>
        <p:nvSpPr>
          <p:cNvPr id="6" name="Slide Number Placeholder 5"/>
          <p:cNvSpPr>
            <a:spLocks noGrp="1"/>
          </p:cNvSpPr>
          <p:nvPr>
            <p:ph type="sldNum" sz="quarter" idx="12"/>
          </p:nvPr>
        </p:nvSpPr>
        <p:spPr/>
        <p:txBody>
          <a:bodyPr anchor="t"/>
          <a:lstStyle>
            <a:lvl1pPr algn="l" marL="0" indent="0">
              <a:buNone/>
              <a:defRPr sz="2000">
                <a:solidFill>
                  <a:srgbClr val="BDBDBD"/>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0080" y="365760"/>
            <a:ext cx="10881360" cy="868680"/>
          </a:xfrm>
        </p:spPr>
        <p:txBody>
          <a:bodyPr/>
          <a:lstStyle/>
          <a:p>
            <a:r>
              <a:rPr lang="en-US" smtClean="0"/>
              <a:t>Click to edit Master title style</a:t>
            </a:r>
            <a:endParaRPr lang="en-US"/>
          </a:p>
        </p:txBody>
      </p:sp>
      <p:sp>
        <p:nvSpPr>
          <p:cNvPr id="3" name="Content Placeholder 2"/>
          <p:cNvSpPr>
            <a:spLocks noGrp="1"/>
          </p:cNvSpPr>
          <p:nvPr>
            <p:ph idx="1"/>
          </p:nvPr>
        </p:nvSpPr>
        <p:spPr>
          <a:xfrm>
            <a:off x="640080" y="1417320"/>
            <a:ext cx="10881360" cy="49834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2960" y="2514600"/>
            <a:ext cx="10515600" cy="1188720"/>
          </a:xfrm>
        </p:spPr>
        <p:txBody>
          <a:bodyPr anchor="b"/>
          <a:lstStyle>
            <a:lvl1pPr algn="l" marL="0" indent="0">
              <a:buNone/>
              <a:defRPr sz="4000">
                <a:solidFill>
                  <a:srgbClr val="58C4DD"/>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822960" y="3749039"/>
            <a:ext cx="10515600" cy="822960"/>
          </a:xfrm>
        </p:spPr>
        <p:txBody>
          <a:bodyPr anchor="t"/>
          <a:lstStyle>
            <a:lvl1pPr algn="l" marL="0" indent="0">
              <a:buNone/>
              <a:defRPr sz="2000">
                <a:solidFill>
                  <a:srgbClr val="BDBDBD"/>
                </a:solidFill>
              </a:defRPr>
            </a:lvl1pPr>
          </a:lstStyle>
          <a:p>
            <a:pPr lvl="0"/>
            <a:r>
              <a:rPr lang="en-US" smtClean="0"/>
              <a:t>Click to edit Master text styles</a:t>
            </a:r>
          </a:p>
        </p:txBody>
      </p:sp>
      <p:sp>
        <p:nvSpPr>
          <p:cNvPr id="4" name="Date Placeholder 3"/>
          <p:cNvSpPr>
            <a:spLocks noGrp="1"/>
          </p:cNvSpPr>
          <p:nvPr>
            <p:ph type="dt" sz="half" idx="10"/>
          </p:nvPr>
        </p:nvSpPr>
        <p:spPr/>
        <p:txBody>
          <a:bodyPr anchor="t"/>
          <a:lstStyle>
            <a:lvl1pPr algn="l" marL="0" indent="0">
              <a:buNone/>
              <a:defRPr sz="2000">
                <a:solidFill>
                  <a:srgbClr val="BDBDBD"/>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nchor="t"/>
          <a:lstStyle>
            <a:lvl1pPr algn="l" marL="0" indent="0">
              <a:buNone/>
              <a:defRPr sz="2000">
                <a:solidFill>
                  <a:srgbClr val="BDBDBD"/>
                </a:solidFill>
              </a:defRPr>
            </a:lvl1pPr>
          </a:lstStyle>
          <a:p>
            <a:endParaRPr lang="en-US"/>
          </a:p>
        </p:txBody>
      </p:sp>
      <p:sp>
        <p:nvSpPr>
          <p:cNvPr id="6" name="Slide Number Placeholder 5"/>
          <p:cNvSpPr>
            <a:spLocks noGrp="1"/>
          </p:cNvSpPr>
          <p:nvPr>
            <p:ph type="sldNum" sz="quarter" idx="12"/>
          </p:nvPr>
        </p:nvSpPr>
        <p:spPr/>
        <p:txBody>
          <a:bodyPr anchor="t"/>
          <a:lstStyle>
            <a:lvl1pPr algn="l" marL="0" indent="0">
              <a:buNone/>
              <a:defRPr sz="2000">
                <a:solidFill>
                  <a:srgbClr val="BDBDBD"/>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0080" y="365760"/>
            <a:ext cx="10881360" cy="86868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40080" y="1417320"/>
            <a:ext cx="5303520" cy="49834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245352" y="1417320"/>
            <a:ext cx="5303520" cy="49834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40080" y="365760"/>
            <a:ext cx="10881360" cy="86868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Figure 16:9">
    <p:spTree>
      <p:nvGrpSpPr>
        <p:cNvPr id="1" name=""/>
        <p:cNvGrpSpPr/>
        <p:nvPr/>
      </p:nvGrpSpPr>
      <p:grpSpPr>
        <a:xfrm>
          <a:off x="0" y="0"/>
          <a:ext cx="0" cy="0"/>
          <a:chOff x="0" y="0"/>
          <a:chExt cx="0" cy="0"/>
        </a:xfrm>
      </p:grpSpPr>
      <p:sp>
        <p:nvSpPr>
          <p:cNvPr id="2" name="Title 1"/>
          <p:cNvSpPr>
            <a:spLocks noGrp="1"/>
          </p:cNvSpPr>
          <p:nvPr>
            <p:ph type="title"/>
          </p:nvPr>
        </p:nvSpPr>
        <p:spPr>
          <a:xfrm>
            <a:off x="640080" y="320040"/>
            <a:ext cx="10881360" cy="777240"/>
          </a:xfrm>
        </p:spPr>
        <p:txBody>
          <a:bodyPr anchor="b"/>
          <a:lstStyle/>
          <a:p>
            <a:r>
              <a:rPr lang="en-US" smtClean="0"/>
              <a:t>Click to edit Master title style</a:t>
            </a:r>
            <a:endParaRPr lang="en-US"/>
          </a:p>
        </p:txBody>
      </p:sp>
      <p:sp>
        <p:nvSpPr>
          <p:cNvPr id="4" name="Caption Body"/>
          <p:cNvSpPr>
            <a:spLocks noGrp="1"/>
          </p:cNvSpPr>
          <p:nvPr>
            <p:ph type="body" sz="half" idx="1"/>
          </p:nvPr>
        </p:nvSpPr>
        <p:spPr>
          <a:xfrm>
            <a:off x="822960" y="6144768"/>
            <a:ext cx="10515600" cy="566928"/>
          </a:xfrm>
        </p:spPr>
        <p:txBody>
          <a:bodyPr anchor="t"/>
          <a:lstStyle>
            <a:lvl1pPr algn="ctr" marL="0" indent="0">
              <a:buNone/>
              <a:defRPr sz="1500">
                <a:solidFill>
                  <a:srgbClr val="BDBDBD"/>
                </a:solidFill>
              </a:defRPr>
            </a:lvl1pPr>
          </a:lstStyle>
          <a:p>
            <a:pPr lvl="0"/>
            <a:r>
              <a:rPr lang="en-US" smtClean="0"/>
              <a:t>Click to edit Master text styles</a:t>
            </a:r>
          </a:p>
        </p:txBody>
      </p:sp>
      <p:sp>
        <p:nvSpPr>
          <p:cNvPr id="3" name="Picture Placeholder 16x9"/>
          <p:cNvSpPr>
            <a:spLocks noGrp="1"/>
          </p:cNvSpPr>
          <p:nvPr>
            <p:ph type="pic" idx="2"/>
          </p:nvPr>
        </p:nvSpPr>
        <p:spPr>
          <a:xfrm>
            <a:off x="1706727" y="1143000"/>
            <a:ext cx="8778240" cy="4937760"/>
          </a:xfrm>
        </p:spPr>
        <p:txBody>
          <a:bodyPr/>
          <a:lstStyle/>
          <a:p>
            <a:endParaRPr lang="en-US"/>
          </a:p>
        </p:txBody>
      </p:sp>
      <p:sp>
        <p:nvSpPr>
          <p:cNvPr id="5" name="Caption Body"/>
          <p:cNvSpPr>
            <a:spLocks noGrp="1"/>
          </p:cNvSpPr>
          <p:nvPr>
            <p:ph type="dt" sz="half" idx="10"/>
          </p:nvPr>
        </p:nvSpPr>
        <p:spPr>
          <a:xfrm>
            <a:off x="822960" y="6144768"/>
            <a:ext cx="10515600" cy="566928"/>
          </a:xfrm>
        </p:spPr>
        <p:txBody>
          <a:bodyPr anchor="t"/>
          <a:lstStyle>
            <a:lvl1pPr algn="ctr" marL="0" indent="0">
              <a:buNone/>
              <a:defRPr sz="1500">
                <a:solidFill>
                  <a:srgbClr val="BDBDBD"/>
                </a:solidFill>
              </a:defRPr>
            </a:lvl1pPr>
          </a:lstStyle>
          <a:p>
            <a:fld id="{5BCAD085-E8A6-8845-BD4E-CB4CCA059FC4}" type="datetimeFigureOut">
              <a:rPr lang="en-US" smtClean="0"/>
              <a:t>1/27/13</a:t>
            </a:fld>
            <a:endParaRPr lang="en-US"/>
          </a:p>
        </p:txBody>
      </p:sp>
      <p:sp>
        <p:nvSpPr>
          <p:cNvPr id="6" name="Caption Body"/>
          <p:cNvSpPr>
            <a:spLocks noGrp="1"/>
          </p:cNvSpPr>
          <p:nvPr>
            <p:ph type="ftr" sz="quarter" idx="11"/>
          </p:nvPr>
        </p:nvSpPr>
        <p:spPr>
          <a:xfrm>
            <a:off x="822960" y="6144768"/>
            <a:ext cx="10515600" cy="566928"/>
          </a:xfrm>
        </p:spPr>
        <p:txBody>
          <a:bodyPr anchor="t"/>
          <a:lstStyle>
            <a:lvl1pPr algn="ctr" marL="0" indent="0">
              <a:buNone/>
              <a:defRPr sz="1500">
                <a:solidFill>
                  <a:srgbClr val="BDBDBD"/>
                </a:solidFill>
              </a:defRPr>
            </a:lvl1pPr>
          </a:lstStyle>
          <a:p>
            <a:endParaRPr lang="en-US"/>
          </a:p>
        </p:txBody>
      </p:sp>
      <p:sp>
        <p:nvSpPr>
          <p:cNvPr id="7" name="Caption Body"/>
          <p:cNvSpPr>
            <a:spLocks noGrp="1"/>
          </p:cNvSpPr>
          <p:nvPr>
            <p:ph type="sldNum" sz="quarter" idx="12"/>
          </p:nvPr>
        </p:nvSpPr>
        <p:spPr>
          <a:xfrm>
            <a:off x="822960" y="6144768"/>
            <a:ext cx="10515600" cy="566928"/>
          </a:xfrm>
        </p:spPr>
        <p:txBody>
          <a:bodyPr anchor="t"/>
          <a:lstStyle>
            <a:lvl1pPr algn="ctr" marL="0" indent="0">
              <a:buNone/>
              <a:defRPr sz="1500">
                <a:solidFill>
                  <a:srgbClr val="BDBDBD"/>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6" Type="http://schemas.openxmlformats.org/officeDocument/2006/relationships/slideLayout" Target="../slideLayouts/slideLayout6.xml"/><Relationship Id="rId9" Type="http://schemas.openxmlformats.org/officeDocument/2006/relationships/slideLayout" Target="../slideLayouts/slideLayout9.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6"/>
    <p:sldLayoutId id="2147483657" r:id="rId9"/>
  </p:sldLayoutIdLst>
  <p:txStyles>
    <p:titleStyle>
      <a:lvl1pPr algn="l"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60000"/>
        </a:spcBef>
        <a:buFont typeface="Arial"/>
        <a:buChar char="•"/>
        <a:defRPr sz="2200" kern="1200">
          <a:solidFill>
            <a:schemeClr val="tx1"/>
          </a:solidFill>
          <a:latin typeface="+mn-lt"/>
          <a:ea typeface="+mn-ea"/>
          <a:cs typeface="+mn-cs"/>
        </a:defRPr>
      </a:lvl1pPr>
      <a:lvl2pPr marL="742950" indent="-285750" algn="l" defTabSz="457200" rtl="0" eaLnBrk="1" latinLnBrk="0" hangingPunct="1">
        <a:spcBef>
          <a:spcPct val="60000"/>
        </a:spcBef>
        <a:buFont typeface="Arial"/>
        <a:buChar char="–"/>
        <a:defRPr sz="1900" kern="1200">
          <a:solidFill>
            <a:schemeClr val="tx1"/>
          </a:solidFill>
          <a:latin typeface="+mn-lt"/>
          <a:ea typeface="+mn-ea"/>
          <a:cs typeface="+mn-cs"/>
        </a:defRPr>
      </a:lvl2pPr>
      <a:lvl3pPr marL="1143000" indent="-228600" algn="l" defTabSz="457200" rtl="0" eaLnBrk="1" latinLnBrk="0" hangingPunct="1">
        <a:spcBef>
          <a:spcPct val="60000"/>
        </a:spcBef>
        <a:buFont typeface="Arial"/>
        <a:buChar char="•"/>
        <a:defRPr sz="17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gif"/><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8.gif"/><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Hệ gợi ý bài tập lập trình thích ứng</a:t>
            </a:r>
          </a:p>
        </p:txBody>
      </p:sp>
      <p:sp>
        <p:nvSpPr>
          <p:cNvPr id="3" name="Subtitle 2"/>
          <p:cNvSpPr>
            <a:spLocks noGrp="1"/>
          </p:cNvSpPr>
          <p:nvPr>
            <p:ph type="subTitle" idx="1"/>
          </p:nvPr>
        </p:nvSpPr>
        <p:spPr/>
        <p:txBody>
          <a:bodyPr/>
          <a:lstStyle/>
          <a:p>
            <a:r>
              <a:rPr sz="2000">
                <a:solidFill>
                  <a:srgbClr val="BDBDBD"/>
                </a:solidFill>
              </a:rPr>
              <a:t>Đề tài 4 · mô hình người học (DKT, cây ID3) + MDP + học tăng cường (DQN, PPO)
Dữ liệu ACcoding thật · mọi kết quả về chính sách là mô phỏng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Đề 4 yêu cầu gì</a:t>
            </a:r>
          </a:p>
        </p:txBody>
      </p:sp>
      <p:sp>
        <p:nvSpPr>
          <p:cNvPr id="3" name="Content Placeholder 2"/>
          <p:cNvSpPr>
            <a:spLocks noGrp="1"/>
          </p:cNvSpPr>
          <p:nvPr>
            <p:ph idx="1"/>
          </p:nvPr>
        </p:nvSpPr>
        <p:spPr/>
        <p:txBody>
          <a:bodyPr/>
          <a:lstStyle/>
          <a:p>
            <a:pPr/>
            <a:r>
              <a:t>Chọn bài tập tiếp theo vừa sức cho từng sinh viên (vùng phát triển gần)</a:t>
            </a:r>
          </a:p>
          <a:p>
            <a:pPr/>
            <a:r>
              <a:t>Mô hình hóa nhận thức: DKT hoặc cây định danh theo entropy, chẩn đoán kỹ năng yếu/mạnh</a:t>
            </a:r>
          </a:p>
          <a:p>
            <a:pPr/>
            <a:r>
              <a:t>Khung MDP: trạng thái = mức hiểu · hành động = bài · thưởng = cải thiện điểm và thời gian giải</a:t>
            </a:r>
          </a:p>
          <a:p>
            <a:pPr/>
            <a:r>
              <a:t>Học chính sách bằng Q-learning hoặc PPO</a:t>
            </a:r>
          </a:p>
          <a:p>
            <a:pPr/>
            <a:r>
              <a:t>Ràng buộc của nhóm: tự tìm dữ liệu, không thử nghiệm trên sinh viên thật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Chuỗi năm khâu và ứng dụng</a:t>
            </a:r>
          </a:p>
        </p:txBody>
      </p:sp>
      <p:sp>
        <p:nvSpPr>
          <p:cNvPr id="3" name="Text Placeholder 2"/>
          <p:cNvSpPr>
            <a:spLocks noGrp="1"/>
          </p:cNvSpPr>
          <p:nvPr>
            <p:ph type="body" idx="1" sz="half"/>
          </p:nvPr>
        </p:nvSpPr>
        <p:spPr/>
        <p:txBody>
          <a:bodyPr/>
          <a:lstStyle/>
          <a:p>
            <a:r>
              <a:t>Hoạt hình chạy khi trình chiếu (PowerPoint chỉ phát GIF ở chế độ trình chiếu).</a:t>
            </a:r>
          </a:p>
        </p:txBody>
      </p:sp>
      <p:pic>
        <p:nvPicPr>
          <p:cNvPr id="4" name="Picture Placeholder 3" descr="manim_3d1d7d987ef011dd.gif"/>
          <p:cNvPicPr>
            <a:picLocks noGrp="1" noChangeAspect="1"/>
          </p:cNvPicPr>
          <p:nvPr>
            <p:ph type="pic" idx="2"/>
          </p:nvPr>
        </p:nvPicPr>
        <p:blipFill>
          <a:blip r:embed="rId2"/>
          <a:srcRect/>
          <a:stretch>
            <a:fillRect/>
          </a:stretch>
        </p:blipFill>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Dữ liệu ACcoding (lập trình C)</a:t>
            </a:r>
          </a:p>
        </p:txBody>
      </p:sp>
      <p:graphicFrame>
        <p:nvGraphicFramePr>
          <p:cNvPr id="3" name="Table 2"/>
          <p:cNvGraphicFramePr>
            <a:graphicFrameLocks noGrp="1"/>
          </p:cNvGraphicFramePr>
          <p:nvPr/>
        </p:nvGraphicFramePr>
        <p:xfrm>
          <a:off x="472287" y="1417320"/>
          <a:ext cx="11247120" cy="3401568"/>
        </p:xfrm>
        <a:graphic>
          <a:graphicData uri="http://schemas.openxmlformats.org/drawingml/2006/table">
            <a:tbl>
              <a:tblPr firstRow="1" bandRow="0">
                <a:tableStyleId>{2D5ABB26-0587-4C30-8999-92F81FD0307C}</a:tableStyleId>
              </a:tblPr>
              <a:tblGrid>
                <a:gridCol w="2194560"/>
                <a:gridCol w="3291840"/>
                <a:gridCol w="5760720"/>
              </a:tblGrid>
              <a:tr h="566928">
                <a:tc>
                  <a:txBody>
                    <a:bodyPr/>
                    <a:lstStyle/>
                    <a:p>
                      <a:r>
                        <a:rPr sz="1700" b="1">
                          <a:solidFill>
                            <a:srgbClr val="58C4DD"/>
                          </a:solidFill>
                        </a:rPr>
                        <a:t>Đại lượng</a:t>
                      </a:r>
                    </a:p>
                  </a:txBody>
                  <a:tcPr anchor="ctr" marL="128016" marR="128016">
                    <a:solidFill>
                      <a:srgbClr val="2E2E2E"/>
                    </a:solidFill>
                  </a:tcPr>
                </a:tc>
                <a:tc>
                  <a:txBody>
                    <a:bodyPr/>
                    <a:lstStyle/>
                    <a:p>
                      <a:r>
                        <a:rPr sz="1700" b="1">
                          <a:solidFill>
                            <a:srgbClr val="58C4DD"/>
                          </a:solidFill>
                        </a:rPr>
                        <a:t>Giá trị</a:t>
                      </a:r>
                    </a:p>
                  </a:txBody>
                  <a:tcPr anchor="ctr" marL="128016" marR="128016">
                    <a:solidFill>
                      <a:srgbClr val="2E2E2E"/>
                    </a:solidFill>
                  </a:tcPr>
                </a:tc>
                <a:tc>
                  <a:txBody>
                    <a:bodyPr/>
                    <a:lstStyle/>
                    <a:p>
                      <a:r>
                        <a:rPr sz="1700" b="1">
                          <a:solidFill>
                            <a:srgbClr val="58C4DD"/>
                          </a:solidFill>
                        </a:rPr>
                        <a:t>Ghi chú</a:t>
                      </a:r>
                    </a:p>
                  </a:txBody>
                  <a:tcPr anchor="ctr" marL="128016" marR="128016">
                    <a:solidFill>
                      <a:srgbClr val="2E2E2E"/>
                    </a:solidFill>
                  </a:tcPr>
                </a:tc>
              </a:tr>
              <a:tr h="566928">
                <a:tc>
                  <a:txBody>
                    <a:bodyPr/>
                    <a:lstStyle/>
                    <a:p>
                      <a:r>
                        <a:rPr sz="1800" b="0">
                          <a:solidFill>
                            <a:srgbClr val="EDEDED"/>
                          </a:solidFill>
                        </a:rPr>
                        <a:t>Học viên</a:t>
                      </a:r>
                    </a:p>
                  </a:txBody>
                  <a:tcPr anchor="ctr" marL="128016" marR="128016">
                    <a:solidFill>
                      <a:srgbClr val="1C1C1C"/>
                    </a:solidFill>
                  </a:tcPr>
                </a:tc>
                <a:tc>
                  <a:txBody>
                    <a:bodyPr/>
                    <a:lstStyle/>
                    <a:p>
                      <a:r>
                        <a:rPr sz="1800" b="0">
                          <a:solidFill>
                            <a:srgbClr val="EDEDED"/>
                          </a:solidFill>
                        </a:rPr>
                        <a:t>4.634</a:t>
                      </a:r>
                    </a:p>
                  </a:txBody>
                  <a:tcPr anchor="ctr" marL="128016" marR="128016">
                    <a:solidFill>
                      <a:srgbClr val="1C1C1C"/>
                    </a:solidFill>
                  </a:tcPr>
                </a:tc>
                <a:tc>
                  <a:txBody>
                    <a:bodyPr/>
                    <a:lstStyle/>
                    <a:p>
                      <a:r>
                        <a:rPr sz="1800" b="0">
                          <a:solidFill>
                            <a:srgbClr val="EDEDED"/>
                          </a:solidFill>
                        </a:rPr>
                        <a:t>chưa dùng ở các nghiên cứu trước, ≥ 20 bài khác nhau</a:t>
                      </a:r>
                    </a:p>
                  </a:txBody>
                  <a:tcPr anchor="ctr" marL="128016" marR="128016">
                    <a:solidFill>
                      <a:srgbClr val="1C1C1C"/>
                    </a:solidFill>
                  </a:tcPr>
                </a:tc>
              </a:tr>
              <a:tr h="566928">
                <a:tc>
                  <a:txBody>
                    <a:bodyPr/>
                    <a:lstStyle/>
                    <a:p>
                      <a:r>
                        <a:rPr sz="1800" b="0">
                          <a:solidFill>
                            <a:srgbClr val="EDEDED"/>
                          </a:solidFill>
                        </a:rPr>
                        <a:t>Lần nộp đầu</a:t>
                      </a:r>
                    </a:p>
                  </a:txBody>
                  <a:tcPr anchor="ctr" marL="128016" marR="128016">
                    <a:solidFill>
                      <a:srgbClr val="242424"/>
                    </a:solidFill>
                  </a:tcPr>
                </a:tc>
                <a:tc>
                  <a:txBody>
                    <a:bodyPr/>
                    <a:lstStyle/>
                    <a:p>
                      <a:r>
                        <a:rPr sz="1800" b="0">
                          <a:solidFill>
                            <a:srgbClr val="EDEDED"/>
                          </a:solidFill>
                        </a:rPr>
                        <a:t>562.912</a:t>
                      </a:r>
                    </a:p>
                  </a:txBody>
                  <a:tcPr anchor="ctr" marL="128016" marR="128016">
                    <a:solidFill>
                      <a:srgbClr val="242424"/>
                    </a:solidFill>
                  </a:tcPr>
                </a:tc>
                <a:tc>
                  <a:txBody>
                    <a:bodyPr/>
                    <a:lstStyle/>
                    <a:p>
                      <a:r>
                        <a:rPr sz="1800" b="0">
                          <a:solidFill>
                            <a:srgbClr val="EDEDED"/>
                          </a:solidFill>
                        </a:rPr>
                        <a:t>nhãn đúng/sai của lần nộp đầu mỗi bài</a:t>
                      </a:r>
                    </a:p>
                  </a:txBody>
                  <a:tcPr anchor="ctr" marL="128016" marR="128016">
                    <a:solidFill>
                      <a:srgbClr val="242424"/>
                    </a:solidFill>
                  </a:tcPr>
                </a:tc>
              </a:tr>
              <a:tr h="566928">
                <a:tc>
                  <a:txBody>
                    <a:bodyPr/>
                    <a:lstStyle/>
                    <a:p>
                      <a:r>
                        <a:rPr sz="1800" b="0">
                          <a:solidFill>
                            <a:srgbClr val="EDEDED"/>
                          </a:solidFill>
                        </a:rPr>
                        <a:t>Bài</a:t>
                      </a:r>
                    </a:p>
                  </a:txBody>
                  <a:tcPr anchor="ctr" marL="128016" marR="128016">
                    <a:solidFill>
                      <a:srgbClr val="1C1C1C"/>
                    </a:solidFill>
                  </a:tcPr>
                </a:tc>
                <a:tc>
                  <a:txBody>
                    <a:bodyPr/>
                    <a:lstStyle/>
                    <a:p>
                      <a:r>
                        <a:rPr sz="1800" b="0">
                          <a:solidFill>
                            <a:srgbClr val="EDEDED"/>
                          </a:solidFill>
                        </a:rPr>
                        <a:t>3.882</a:t>
                      </a:r>
                    </a:p>
                  </a:txBody>
                  <a:tcPr anchor="ctr" marL="128016" marR="128016">
                    <a:solidFill>
                      <a:srgbClr val="1C1C1C"/>
                    </a:solidFill>
                  </a:tcPr>
                </a:tc>
                <a:tc>
                  <a:txBody>
                    <a:bodyPr/>
                    <a:lstStyle/>
                    <a:p>
                      <a:r>
                        <a:rPr sz="1800" b="0">
                          <a:solidFill>
                            <a:srgbClr val="EDEDED"/>
                          </a:solidFill>
                        </a:rPr>
                        <a:t>gán vào 10 kỹ năng nền tảng (vòng lặp, mảng, con trỏ…)</a:t>
                      </a:r>
                    </a:p>
                  </a:txBody>
                  <a:tcPr anchor="ctr" marL="128016" marR="128016">
                    <a:solidFill>
                      <a:srgbClr val="1C1C1C"/>
                    </a:solidFill>
                  </a:tcPr>
                </a:tc>
              </a:tr>
              <a:tr h="566928">
                <a:tc>
                  <a:txBody>
                    <a:bodyPr/>
                    <a:lstStyle/>
                    <a:p>
                      <a:r>
                        <a:rPr sz="1800" b="0">
                          <a:solidFill>
                            <a:srgbClr val="EDEDED"/>
                          </a:solidFill>
                        </a:rPr>
                        <a:t>Chia theo người</a:t>
                      </a:r>
                    </a:p>
                  </a:txBody>
                  <a:tcPr anchor="ctr" marL="128016" marR="128016">
                    <a:solidFill>
                      <a:srgbClr val="242424"/>
                    </a:solidFill>
                  </a:tcPr>
                </a:tc>
                <a:tc>
                  <a:txBody>
                    <a:bodyPr/>
                    <a:lstStyle/>
                    <a:p>
                      <a:r>
                        <a:rPr sz="1800" b="0">
                          <a:solidFill>
                            <a:srgbClr val="EDEDED"/>
                          </a:solidFill>
                        </a:rPr>
                        <a:t>A 1.854 · B 1.854 · T 926</a:t>
                      </a:r>
                    </a:p>
                  </a:txBody>
                  <a:tcPr anchor="ctr" marL="128016" marR="128016">
                    <a:solidFill>
                      <a:srgbClr val="242424"/>
                    </a:solidFill>
                  </a:tcPr>
                </a:tc>
                <a:tc>
                  <a:txBody>
                    <a:bodyPr/>
                    <a:lstStyle/>
                    <a:p>
                      <a:r>
                        <a:rPr sz="1800" b="0">
                          <a:solidFill>
                            <a:srgbClr val="EDEDED"/>
                          </a:solidFill>
                        </a:rPr>
                        <a:t>A và B để fit mô hình; T chỉ dùng để kiểm tra</a:t>
                      </a:r>
                    </a:p>
                  </a:txBody>
                  <a:tcPr anchor="ctr" marL="128016" marR="128016">
                    <a:solidFill>
                      <a:srgbClr val="242424"/>
                    </a:solidFill>
                  </a:tcPr>
                </a:tc>
              </a:tr>
              <a:tr h="566928">
                <a:tc>
                  <a:txBody>
                    <a:bodyPr/>
                    <a:lstStyle/>
                    <a:p>
                      <a:r>
                        <a:rPr sz="1800" b="0">
                          <a:solidFill>
                            <a:srgbClr val="EDEDED"/>
                          </a:solidFill>
                        </a:rPr>
                        <a:t>Ngân hàng gợi ý</a:t>
                      </a:r>
                    </a:p>
                  </a:txBody>
                  <a:tcPr anchor="ctr" marL="128016" marR="128016">
                    <a:solidFill>
                      <a:srgbClr val="1C1C1C"/>
                    </a:solidFill>
                  </a:tcPr>
                </a:tc>
                <a:tc>
                  <a:txBody>
                    <a:bodyPr/>
                    <a:lstStyle/>
                    <a:p>
                      <a:r>
                        <a:rPr sz="1800" b="0">
                          <a:solidFill>
                            <a:srgbClr val="EDEDED"/>
                          </a:solidFill>
                        </a:rPr>
                        <a:t>109 bài · kiểm tra cuối 16 bài</a:t>
                      </a:r>
                    </a:p>
                  </a:txBody>
                  <a:tcPr anchor="ctr" marL="128016" marR="128016">
                    <a:solidFill>
                      <a:srgbClr val="1C1C1C"/>
                    </a:solidFill>
                  </a:tcPr>
                </a:tc>
                <a:tc>
                  <a:txBody>
                    <a:bodyPr/>
                    <a:lstStyle/>
                    <a:p>
                      <a:r>
                        <a:rPr sz="1800" b="0">
                          <a:solidFill>
                            <a:srgbClr val="EDEDED"/>
                          </a:solidFill>
                        </a:rPr>
                        <a:t>cố định trước khi xem kết quả</a:t>
                      </a:r>
                    </a:p>
                  </a:txBody>
                  <a:tcPr anchor="ctr" marL="128016" marR="128016">
                    <a:solidFill>
                      <a:srgbClr val="1C1C1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 Mô hình người học</a:t>
            </a:r>
          </a:p>
        </p:txBody>
      </p:sp>
      <p:sp>
        <p:nvSpPr>
          <p:cNvPr id="3" name="Text Placeholder 2"/>
          <p:cNvSpPr>
            <a:spLocks noGrp="1"/>
          </p:cNvSpPr>
          <p:nvPr>
            <p:ph type="body" idx="1"/>
          </p:nvPr>
        </p:nvSpPr>
        <p:spPr/>
        <p:txBody>
          <a:bodyPr/>
          <a:lstStyle/>
          <a:p>
            <a:r>
              <a:t>dự báo đúng/sai lần nộp đầu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Họ logistic: IRT, AFM, PFA</a:t>
            </a:r>
          </a:p>
        </p:txBody>
      </p:sp>
      <p:sp>
        <p:nvSpPr>
          <p:cNvPr id="3" name="Text Placeholder 2"/>
          <p:cNvSpPr>
            <a:spLocks noGrp="1"/>
          </p:cNvSpPr>
          <p:nvPr>
            <p:ph type="body" idx="1" sz="half"/>
          </p:nvPr>
        </p:nvSpPr>
        <p:spPr/>
        <p:txBody>
          <a:bodyPr/>
          <a:lstStyle/>
          <a:p>
            <a:r>
              <a:t>θ năng lực học viên · β độ khó bài · w nhãn kỹ năng · n, s, f số lần đã luyện / đúng / sai · fit bằng L-BFGS có prior</a:t>
            </a:r>
          </a:p>
        </p:txBody>
      </p:sp>
      <p:pic>
        <p:nvPicPr>
          <p:cNvPr id="4" name="Picture Placeholder 3" descr="eq_logistic.png"/>
          <p:cNvPicPr>
            <a:picLocks noGrp="1" noChangeAspect="1"/>
          </p:cNvPicPr>
          <p:nvPr>
            <p:ph type="pic" idx="2"/>
          </p:nvPr>
        </p:nvPicPr>
        <p:blipFill>
          <a:blip r:embed="rId2"/>
          <a:srcRect/>
          <a:stretch>
            <a:fillRect/>
          </a:stretch>
        </p:blipFill>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Cây định danh ID3 theo entropy</a:t>
            </a:r>
          </a:p>
        </p:txBody>
      </p:sp>
      <p:sp>
        <p:nvSpPr>
          <p:cNvPr id="3" name="Text Placeholder 2"/>
          <p:cNvSpPr>
            <a:spLocks noGrp="1"/>
          </p:cNvSpPr>
          <p:nvPr>
            <p:ph type="body" idx="1" sz="half"/>
          </p:nvPr>
        </p:nvSpPr>
        <p:spPr/>
        <p:txBody>
          <a:bodyPr/>
          <a:lstStyle/>
          <a:p>
            <a:r>
              <a:t>Mỗi nút chọn điều kiện có độ lợi thông tin lớn nhất · sâu ≤ 6, lá ≥ 200 mẫu · cho ra luật đọc được</a:t>
            </a:r>
          </a:p>
        </p:txBody>
      </p:sp>
      <p:pic>
        <p:nvPicPr>
          <p:cNvPr id="4" name="Picture Placeholder 3" descr="eq_id3.png"/>
          <p:cNvPicPr>
            <a:picLocks noGrp="1" noChangeAspect="1"/>
          </p:cNvPicPr>
          <p:nvPr>
            <p:ph type="pic" idx="2"/>
          </p:nvPr>
        </p:nvPicPr>
        <p:blipFill>
          <a:blip r:embed="rId2"/>
          <a:srcRect/>
          <a:stretch>
            <a:fillRect/>
          </a:stretch>
        </p:blipFill>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Bảy mô hình dự báo gần như ngang nhau</a:t>
            </a:r>
          </a:p>
        </p:txBody>
      </p:sp>
      <p:sp>
        <p:nvSpPr>
          <p:cNvPr id="3" name="Text Placeholder 2"/>
          <p:cNvSpPr>
            <a:spLocks noGrp="1"/>
          </p:cNvSpPr>
          <p:nvPr>
            <p:ph type="body" idx="1" sz="half"/>
          </p:nvPr>
        </p:nvSpPr>
        <p:spPr/>
        <p:txBody>
          <a:bodyPr/>
          <a:lstStyle/>
          <a:p>
            <a:r>
              <a:t>DKT: LSTM, AdamW, dừng sớm · SAKT: self-attention · AUC 0,775 (DKT) so với 0,763 (ID3)</a:t>
            </a:r>
          </a:p>
        </p:txBody>
      </p:sp>
      <p:pic>
        <p:nvPicPr>
          <p:cNvPr id="4" name="Picture Placeholder 3" descr="chart_auc.png"/>
          <p:cNvPicPr>
            <a:picLocks noGrp="1" noChangeAspect="1"/>
          </p:cNvPicPr>
          <p:nvPr>
            <p:ph type="pic" idx="2"/>
          </p:nvPr>
        </p:nvPicPr>
        <p:blipFill>
          <a:blip r:embed="rId2"/>
          <a:srcRect/>
          <a:stretch>
            <a:fillRect/>
          </a:stretch>
        </p:blipFill>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Ứng dụng: bản đồ kỹ năng so với lớp</a:t>
            </a:r>
          </a:p>
        </p:txBody>
      </p:sp>
      <p:sp>
        <p:nvSpPr>
          <p:cNvPr id="3" name="Text Placeholder 2"/>
          <p:cNvSpPr>
            <a:spLocks noGrp="1"/>
          </p:cNvSpPr>
          <p:nvPr>
            <p:ph type="body" idx="1" sz="half"/>
          </p:nvPr>
        </p:nvSpPr>
        <p:spPr/>
        <p:txBody>
          <a:bodyPr/>
          <a:lstStyle/>
          <a:p>
            <a:r>
              <a:t>Học viên L035: thanh là mức DKT, vạch là trung bình 60 học viên mẫu</a:t>
            </a:r>
          </a:p>
        </p:txBody>
      </p:sp>
      <p:pic>
        <p:nvPicPr>
          <p:cNvPr id="4" name="Picture Placeholder 3" descr="app-learners-skills-169.png"/>
          <p:cNvPicPr>
            <a:picLocks noGrp="1" noChangeAspect="1"/>
          </p:cNvPicPr>
          <p:nvPr>
            <p:ph type="pic" idx="2"/>
          </p:nvPr>
        </p:nvPicPr>
        <p:blipFill>
          <a:blip r:embed="rId2"/>
          <a:srcRect/>
          <a:stretch>
            <a:fillRect/>
          </a:stretch>
        </p:blipFill>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 MDP và học tăng cường</a:t>
            </a:r>
          </a:p>
        </p:txBody>
      </p:sp>
      <p:sp>
        <p:nvSpPr>
          <p:cNvPr id="3" name="Text Placeholder 2"/>
          <p:cNvSpPr>
            <a:spLocks noGrp="1"/>
          </p:cNvSpPr>
          <p:nvPr>
            <p:ph type="body" idx="1"/>
          </p:nvPr>
        </p:nvSpPr>
        <p:spPr/>
        <p:txBody>
          <a:bodyPr/>
          <a:lstStyle/>
          <a:p>
            <a:r>
              <a:t>chọn bài là một quyết định tuần tự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Bài toán chọn bài viết thành MDP</a:t>
            </a:r>
          </a:p>
        </p:txBody>
      </p:sp>
      <p:graphicFrame>
        <p:nvGraphicFramePr>
          <p:cNvPr id="3" name="Table 2"/>
          <p:cNvGraphicFramePr>
            <a:graphicFrameLocks noGrp="1"/>
          </p:cNvGraphicFramePr>
          <p:nvPr/>
        </p:nvGraphicFramePr>
        <p:xfrm>
          <a:off x="472288" y="1417320"/>
          <a:ext cx="11247119" cy="3401568"/>
        </p:xfrm>
        <a:graphic>
          <a:graphicData uri="http://schemas.openxmlformats.org/drawingml/2006/table">
            <a:tbl>
              <a:tblPr firstRow="1" bandRow="0">
                <a:tableStyleId>{2D5ABB26-0587-4C30-8999-92F81FD0307C}</a:tableStyleId>
              </a:tblPr>
              <a:tblGrid>
                <a:gridCol w="2377440"/>
                <a:gridCol w="8869680"/>
              </a:tblGrid>
              <a:tr h="566928">
                <a:tc>
                  <a:txBody>
                    <a:bodyPr/>
                    <a:lstStyle/>
                    <a:p>
                      <a:r>
                        <a:rPr sz="1700" b="1">
                          <a:solidFill>
                            <a:srgbClr val="58C4DD"/>
                          </a:solidFill>
                        </a:rPr>
                        <a:t>Thành phần</a:t>
                      </a:r>
                    </a:p>
                  </a:txBody>
                  <a:tcPr anchor="ctr" marL="128016" marR="128016">
                    <a:solidFill>
                      <a:srgbClr val="2E2E2E"/>
                    </a:solidFill>
                  </a:tcPr>
                </a:tc>
                <a:tc>
                  <a:txBody>
                    <a:bodyPr/>
                    <a:lstStyle/>
                    <a:p>
                      <a:r>
                        <a:rPr sz="1700" b="1">
                          <a:solidFill>
                            <a:srgbClr val="58C4DD"/>
                          </a:solidFill>
                        </a:rPr>
                        <a:t>Định nghĩa</a:t>
                      </a:r>
                    </a:p>
                  </a:txBody>
                  <a:tcPr anchor="ctr" marL="128016" marR="128016">
                    <a:solidFill>
                      <a:srgbClr val="2E2E2E"/>
                    </a:solidFill>
                  </a:tcPr>
                </a:tc>
              </a:tr>
              <a:tr h="566928">
                <a:tc>
                  <a:txBody>
                    <a:bodyPr/>
                    <a:lstStyle/>
                    <a:p>
                      <a:r>
                        <a:rPr sz="1800" b="0">
                          <a:solidFill>
                            <a:srgbClr val="EDEDED"/>
                          </a:solidFill>
                        </a:rPr>
                        <a:t>Trạng thái</a:t>
                      </a:r>
                    </a:p>
                  </a:txBody>
                  <a:tcPr anchor="ctr" marL="128016" marR="128016">
                    <a:solidFill>
                      <a:srgbClr val="1C1C1C"/>
                    </a:solidFill>
                  </a:tcPr>
                </a:tc>
                <a:tc>
                  <a:txBody>
                    <a:bodyPr/>
                    <a:lstStyle/>
                    <a:p>
                      <a:r>
                        <a:rPr sz="1800" b="0">
                          <a:solidFill>
                            <a:srgbClr val="EDEDED"/>
                          </a:solidFill>
                        </a:rPr>
                        <a:t>230 số: P(đúng) của 109 bài theo DKT, 109 cờ "còn chọn được", 10 mức kỹ năng, dự báo kiểm tra cuối, số bước còn lại</a:t>
                      </a:r>
                    </a:p>
                  </a:txBody>
                  <a:tcPr anchor="ctr" marL="128016" marR="128016">
                    <a:solidFill>
                      <a:srgbClr val="1C1C1C"/>
                    </a:solidFill>
                  </a:tcPr>
                </a:tc>
              </a:tr>
              <a:tr h="566928">
                <a:tc>
                  <a:txBody>
                    <a:bodyPr/>
                    <a:lstStyle/>
                    <a:p>
                      <a:r>
                        <a:rPr sz="1800" b="0">
                          <a:solidFill>
                            <a:srgbClr val="EDEDED"/>
                          </a:solidFill>
                        </a:rPr>
                        <a:t>Hành động</a:t>
                      </a:r>
                    </a:p>
                  </a:txBody>
                  <a:tcPr anchor="ctr" marL="128016" marR="128016">
                    <a:solidFill>
                      <a:srgbClr val="242424"/>
                    </a:solidFill>
                  </a:tcPr>
                </a:tc>
                <a:tc>
                  <a:txBody>
                    <a:bodyPr/>
                    <a:lstStyle/>
                    <a:p>
                      <a:r>
                        <a:rPr sz="1800" b="0">
                          <a:solidFill>
                            <a:srgbClr val="EDEDED"/>
                          </a:solidFill>
                        </a:rPr>
                        <a:t>chọn 1 trong 109 bài, không lặp bài đã làm</a:t>
                      </a:r>
                    </a:p>
                  </a:txBody>
                  <a:tcPr anchor="ctr" marL="128016" marR="128016">
                    <a:solidFill>
                      <a:srgbClr val="242424"/>
                    </a:solidFill>
                  </a:tcPr>
                </a:tc>
              </a:tr>
              <a:tr h="566928">
                <a:tc>
                  <a:txBody>
                    <a:bodyPr/>
                    <a:lstStyle/>
                    <a:p>
                      <a:r>
                        <a:rPr sz="1800" b="0">
                          <a:solidFill>
                            <a:srgbClr val="EDEDED"/>
                          </a:solidFill>
                        </a:rPr>
                        <a:t>Chuyển trạng thái</a:t>
                      </a:r>
                    </a:p>
                  </a:txBody>
                  <a:tcPr anchor="ctr" marL="128016" marR="128016">
                    <a:solidFill>
                      <a:srgbClr val="1C1C1C"/>
                    </a:solidFill>
                  </a:tcPr>
                </a:tc>
                <a:tc>
                  <a:txBody>
                    <a:bodyPr/>
                    <a:lstStyle/>
                    <a:p>
                      <a:r>
                        <a:rPr sz="1800" b="0">
                          <a:solidFill>
                            <a:srgbClr val="EDEDED"/>
                          </a:solidFill>
                        </a:rPr>
                        <a:t>học viên (mô phỏng) làm bài → tracker DKT cập nhật</a:t>
                      </a:r>
                    </a:p>
                  </a:txBody>
                  <a:tcPr anchor="ctr" marL="128016" marR="128016">
                    <a:solidFill>
                      <a:srgbClr val="1C1C1C"/>
                    </a:solidFill>
                  </a:tcPr>
                </a:tc>
              </a:tr>
              <a:tr h="566928">
                <a:tc>
                  <a:txBody>
                    <a:bodyPr/>
                    <a:lstStyle/>
                    <a:p>
                      <a:r>
                        <a:rPr sz="1800" b="0">
                          <a:solidFill>
                            <a:srgbClr val="EDEDED"/>
                          </a:solidFill>
                        </a:rPr>
                        <a:t>Phần thưởng</a:t>
                      </a:r>
                    </a:p>
                  </a:txBody>
                  <a:tcPr anchor="ctr" marL="128016" marR="128016">
                    <a:solidFill>
                      <a:srgbClr val="242424"/>
                    </a:solidFill>
                  </a:tcPr>
                </a:tc>
                <a:tc>
                  <a:txBody>
                    <a:bodyPr/>
                    <a:lstStyle/>
                    <a:p>
                      <a:r>
                        <a:rPr sz="1800" b="0">
                          <a:solidFill>
                            <a:srgbClr val="EDEDED"/>
                          </a:solidFill>
                        </a:rPr>
                        <a:t>tiến bộ trên 16 bài kiểm tra cuối − λ × số lần nộp thêm, λ = 0,05</a:t>
                      </a:r>
                    </a:p>
                  </a:txBody>
                  <a:tcPr anchor="ctr" marL="128016" marR="128016">
                    <a:solidFill>
                      <a:srgbClr val="242424"/>
                    </a:solidFill>
                  </a:tcPr>
                </a:tc>
              </a:tr>
              <a:tr h="566928">
                <a:tc>
                  <a:txBody>
                    <a:bodyPr/>
                    <a:lstStyle/>
                    <a:p>
                      <a:r>
                        <a:rPr sz="1800" b="0">
                          <a:solidFill>
                            <a:srgbClr val="EDEDED"/>
                          </a:solidFill>
                        </a:rPr>
                        <a:t>Chân trời</a:t>
                      </a:r>
                    </a:p>
                  </a:txBody>
                  <a:tcPr anchor="ctr" marL="128016" marR="128016">
                    <a:solidFill>
                      <a:srgbClr val="1C1C1C"/>
                    </a:solidFill>
                  </a:tcPr>
                </a:tc>
                <a:tc>
                  <a:txBody>
                    <a:bodyPr/>
                    <a:lstStyle/>
                    <a:p>
                      <a:r>
                        <a:rPr sz="1800" b="0">
                          <a:solidFill>
                            <a:srgbClr val="EDEDED"/>
                          </a:solidFill>
                        </a:rPr>
                        <a:t>10 bước mỗi phiên</a:t>
                      </a:r>
                    </a:p>
                  </a:txBody>
                  <a:tcPr anchor="ctr" marL="128016" marR="128016">
                    <a:solidFill>
                      <a:srgbClr val="1C1C1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Phần thưởng, Double DQN và PPO</a:t>
            </a:r>
          </a:p>
        </p:txBody>
      </p:sp>
      <p:sp>
        <p:nvSpPr>
          <p:cNvPr id="3" name="Text Placeholder 2"/>
          <p:cNvSpPr>
            <a:spLocks noGrp="1"/>
          </p:cNvSpPr>
          <p:nvPr>
            <p:ph type="body" idx="1" sz="half"/>
          </p:nvPr>
        </p:nvSpPr>
        <p:spPr/>
        <p:txBody>
          <a:bodyPr/>
          <a:lstStyle/>
          <a:p>
            <a:r>
              <a:t>Cả hai tác tử che các bài không hợp lệ · 64 môi trường song song × 300 vòng · 3 seed</a:t>
            </a:r>
          </a:p>
        </p:txBody>
      </p:sp>
      <p:pic>
        <p:nvPicPr>
          <p:cNvPr id="4" name="Picture Placeholder 3" descr="eq_rl.png"/>
          <p:cNvPicPr>
            <a:picLocks noGrp="1" noChangeAspect="1"/>
          </p:cNvPicPr>
          <p:nvPr>
            <p:ph type="pic" idx="2"/>
          </p:nvPr>
        </p:nvPicPr>
        <p:blipFill>
          <a:blip r:embed="rId2"/>
          <a:srcRect/>
          <a:stretch>
            <a:fillRect/>
          </a:stretch>
        </p:blipFill>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Huấn luyện và đánh giá</a:t>
            </a:r>
          </a:p>
        </p:txBody>
      </p:sp>
      <p:graphicFrame>
        <p:nvGraphicFramePr>
          <p:cNvPr id="3" name="Table 2"/>
          <p:cNvGraphicFramePr>
            <a:graphicFrameLocks noGrp="1"/>
          </p:cNvGraphicFramePr>
          <p:nvPr/>
        </p:nvGraphicFramePr>
        <p:xfrm>
          <a:off x="472288" y="1417320"/>
          <a:ext cx="11247119" cy="3401568"/>
        </p:xfrm>
        <a:graphic>
          <a:graphicData uri="http://schemas.openxmlformats.org/drawingml/2006/table">
            <a:tbl>
              <a:tblPr firstRow="1" bandRow="0">
                <a:tableStyleId>{2D5ABB26-0587-4C30-8999-92F81FD0307C}</a:tableStyleId>
              </a:tblPr>
              <a:tblGrid>
                <a:gridCol w="2377440"/>
                <a:gridCol w="8869680"/>
              </a:tblGrid>
              <a:tr h="566928">
                <a:tc>
                  <a:txBody>
                    <a:bodyPr/>
                    <a:lstStyle/>
                    <a:p>
                      <a:r>
                        <a:rPr sz="1700" b="1">
                          <a:solidFill>
                            <a:srgbClr val="58C4DD"/>
                          </a:solidFill>
                        </a:rPr>
                        <a:t>Hạng mục</a:t>
                      </a:r>
                    </a:p>
                  </a:txBody>
                  <a:tcPr anchor="ctr" marL="128016" marR="128016">
                    <a:solidFill>
                      <a:srgbClr val="2E2E2E"/>
                    </a:solidFill>
                  </a:tcPr>
                </a:tc>
                <a:tc>
                  <a:txBody>
                    <a:bodyPr/>
                    <a:lstStyle/>
                    <a:p>
                      <a:r>
                        <a:rPr sz="1700" b="1">
                          <a:solidFill>
                            <a:srgbClr val="58C4DD"/>
                          </a:solidFill>
                        </a:rPr>
                        <a:t>Thiết lập</a:t>
                      </a:r>
                    </a:p>
                  </a:txBody>
                  <a:tcPr anchor="ctr" marL="128016" marR="128016">
                    <a:solidFill>
                      <a:srgbClr val="2E2E2E"/>
                    </a:solidFill>
                  </a:tcPr>
                </a:tc>
              </a:tr>
              <a:tr h="566928">
                <a:tc>
                  <a:txBody>
                    <a:bodyPr/>
                    <a:lstStyle/>
                    <a:p>
                      <a:r>
                        <a:rPr sz="1800" b="0">
                          <a:solidFill>
                            <a:srgbClr val="EDEDED"/>
                          </a:solidFill>
                        </a:rPr>
                        <a:t>Double DQN</a:t>
                      </a:r>
                    </a:p>
                  </a:txBody>
                  <a:tcPr anchor="ctr" marL="128016" marR="128016">
                    <a:solidFill>
                      <a:srgbClr val="1C1C1C"/>
                    </a:solidFill>
                  </a:tcPr>
                </a:tc>
                <a:tc>
                  <a:txBody>
                    <a:bodyPr/>
                    <a:lstStyle/>
                    <a:p>
                      <a:r>
                        <a:rPr sz="1800" b="0">
                          <a:solidFill>
                            <a:srgbClr val="EDEDED"/>
                          </a:solidFill>
                        </a:rPr>
                        <a:t>mạng 256 ẩn · replay 50.000 · γ = 0,99 · ε giảm về 0,05 · Adam 5·10⁻⁴</a:t>
                      </a:r>
                    </a:p>
                  </a:txBody>
                  <a:tcPr anchor="ctr" marL="128016" marR="128016">
                    <a:solidFill>
                      <a:srgbClr val="1C1C1C"/>
                    </a:solidFill>
                  </a:tcPr>
                </a:tc>
              </a:tr>
              <a:tr h="566928">
                <a:tc>
                  <a:txBody>
                    <a:bodyPr/>
                    <a:lstStyle/>
                    <a:p>
                      <a:r>
                        <a:rPr sz="1800" b="0">
                          <a:solidFill>
                            <a:srgbClr val="EDEDED"/>
                          </a:solidFill>
                        </a:rPr>
                        <a:t>PPO</a:t>
                      </a:r>
                    </a:p>
                  </a:txBody>
                  <a:tcPr anchor="ctr" marL="128016" marR="128016">
                    <a:solidFill>
                      <a:srgbClr val="242424"/>
                    </a:solidFill>
                  </a:tcPr>
                </a:tc>
                <a:tc>
                  <a:txBody>
                    <a:bodyPr/>
                    <a:lstStyle/>
                    <a:p>
                      <a:r>
                        <a:rPr sz="1800" b="0">
                          <a:solidFill>
                            <a:srgbClr val="EDEDED"/>
                          </a:solidFill>
                        </a:rPr>
                        <a:t>clip 0,2 · GAE λ = 0,95 · entropy 0,01 · 4 epoch · Adam 3·10⁻⁴</a:t>
                      </a:r>
                    </a:p>
                  </a:txBody>
                  <a:tcPr anchor="ctr" marL="128016" marR="128016">
                    <a:solidFill>
                      <a:srgbClr val="242424"/>
                    </a:solidFill>
                  </a:tcPr>
                </a:tc>
              </a:tr>
              <a:tr h="566928">
                <a:tc>
                  <a:txBody>
                    <a:bodyPr/>
                    <a:lstStyle/>
                    <a:p>
                      <a:r>
                        <a:rPr sz="1800" b="0">
                          <a:solidFill>
                            <a:srgbClr val="EDEDED"/>
                          </a:solidFill>
                        </a:rPr>
                        <a:t>Ba điều kiện</a:t>
                      </a:r>
                    </a:p>
                  </a:txBody>
                  <a:tcPr anchor="ctr" marL="128016" marR="128016">
                    <a:solidFill>
                      <a:srgbClr val="1C1C1C"/>
                    </a:solidFill>
                  </a:tcPr>
                </a:tc>
                <a:tc>
                  <a:txBody>
                    <a:bodyPr/>
                    <a:lstStyle/>
                    <a:p>
                      <a:r>
                        <a:rPr sz="1800" b="0">
                          <a:solidFill>
                            <a:srgbClr val="EDEDED"/>
                          </a:solidFill>
                        </a:rPr>
                        <a:t>thưởng từ chính DKT · thế giới AFM có học ẩn · trộn 4 thế giới → 18 tác tử</a:t>
                      </a:r>
                    </a:p>
                  </a:txBody>
                  <a:tcPr anchor="ctr" marL="128016" marR="128016">
                    <a:solidFill>
                      <a:srgbClr val="1C1C1C"/>
                    </a:solidFill>
                  </a:tcPr>
                </a:tc>
              </a:tr>
              <a:tr h="566928">
                <a:tc>
                  <a:txBody>
                    <a:bodyPr/>
                    <a:lstStyle/>
                    <a:p>
                      <a:r>
                        <a:rPr sz="1800" b="0">
                          <a:solidFill>
                            <a:srgbClr val="EDEDED"/>
                          </a:solidFill>
                        </a:rPr>
                        <a:t>So sánh</a:t>
                      </a:r>
                    </a:p>
                  </a:txBody>
                  <a:tcPr anchor="ctr" marL="128016" marR="128016">
                    <a:solidFill>
                      <a:srgbClr val="242424"/>
                    </a:solidFill>
                  </a:tcPr>
                </a:tc>
                <a:tc>
                  <a:txBody>
                    <a:bodyPr/>
                    <a:lstStyle/>
                    <a:p>
                      <a:r>
                        <a:rPr sz="1800" b="0">
                          <a:solidFill>
                            <a:srgbClr val="EDEDED"/>
                          </a:solidFill>
                        </a:rPr>
                        <a:t>8 quy tắc (ngẫu nhiên, lộ trình, kỹ năng yếu nhất, ZPD 50%/70%…) → 14 chính sách</a:t>
                      </a:r>
                    </a:p>
                  </a:txBody>
                  <a:tcPr anchor="ctr" marL="128016" marR="128016">
                    <a:solidFill>
                      <a:srgbClr val="242424"/>
                    </a:solidFill>
                  </a:tcPr>
                </a:tc>
              </a:tr>
              <a:tr h="566928">
                <a:tc>
                  <a:txBody>
                    <a:bodyPr/>
                    <a:lstStyle/>
                    <a:p>
                      <a:r>
                        <a:rPr sz="1800" b="0">
                          <a:solidFill>
                            <a:srgbClr val="EDEDED"/>
                          </a:solidFill>
                        </a:rPr>
                        <a:t>Đánh giá</a:t>
                      </a:r>
                    </a:p>
                  </a:txBody>
                  <a:tcPr anchor="ctr" marL="128016" marR="128016">
                    <a:solidFill>
                      <a:srgbClr val="1C1C1C"/>
                    </a:solidFill>
                  </a:tcPr>
                </a:tc>
                <a:tc>
                  <a:txBody>
                    <a:bodyPr/>
                    <a:lstStyle/>
                    <a:p>
                      <a:r>
                        <a:rPr sz="1800" b="0">
                          <a:solidFill>
                            <a:srgbClr val="EDEDED"/>
                          </a:solidFill>
                        </a:rPr>
                        <a:t>9 thế giới · 926 điểm xuất phát thật · đối chứng âm IRT-B</a:t>
                      </a:r>
                    </a:p>
                  </a:txBody>
                  <a:tcPr anchor="ctr" marL="128016" marR="128016">
                    <a:solidFill>
                      <a:srgbClr val="1C1C1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 Kết quả</a:t>
            </a:r>
          </a:p>
        </p:txBody>
      </p:sp>
      <p:sp>
        <p:nvSpPr>
          <p:cNvPr id="3" name="Text Placeholder 2"/>
          <p:cNvSpPr>
            <a:spLocks noGrp="1"/>
          </p:cNvSpPr>
          <p:nvPr>
            <p:ph type="body" idx="1"/>
          </p:nvPr>
        </p:nvSpPr>
        <p:spPr/>
        <p:txBody>
          <a:bodyPr/>
          <a:lstStyle/>
          <a:p>
            <a:r>
              <a:t>bốn giả thuyết đăng ký trước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H1 · Kết quả đẹp trong bộ mô phỏng co lại ở thế giới khác</a:t>
            </a:r>
          </a:p>
        </p:txBody>
      </p:sp>
      <p:sp>
        <p:nvSpPr>
          <p:cNvPr id="3" name="Text Placeholder 2"/>
          <p:cNvSpPr>
            <a:spLocks noGrp="1"/>
          </p:cNvSpPr>
          <p:nvPr>
            <p:ph type="body" idx="1" sz="half"/>
          </p:nvPr>
        </p:nvSpPr>
        <p:spPr/>
        <p:txBody>
          <a:bodyPr/>
          <a:lstStyle/>
          <a:p>
            <a:r>
              <a:t>PPO thưởng DKT: +27,2 điểm % trong DKT-A, chỉ ≤ +0,3 ở các thế giới có học ẩn</a:t>
            </a:r>
          </a:p>
        </p:txBody>
      </p:sp>
      <p:pic>
        <p:nvPicPr>
          <p:cNvPr id="4" name="Picture Placeholder 3" descr="chart_h1.png"/>
          <p:cNvPicPr>
            <a:picLocks noGrp="1" noChangeAspect="1"/>
          </p:cNvPicPr>
          <p:nvPr>
            <p:ph type="pic" idx="2"/>
          </p:nvPr>
        </p:nvPicPr>
        <p:blipFill>
          <a:blip r:embed="rId2"/>
          <a:srcRect/>
          <a:stretch>
            <a:fillRect/>
          </a:stretch>
        </p:blipFill>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H2 · Tracker báo tiến bộ ngay cả khi không ai học</a:t>
            </a:r>
          </a:p>
        </p:txBody>
      </p:sp>
      <p:sp>
        <p:nvSpPr>
          <p:cNvPr id="3" name="Text Placeholder 2"/>
          <p:cNvSpPr>
            <a:spLocks noGrp="1"/>
          </p:cNvSpPr>
          <p:nvPr>
            <p:ph type="body" idx="1" sz="half"/>
          </p:nvPr>
        </p:nvSpPr>
        <p:spPr/>
        <p:txBody>
          <a:bodyPr/>
          <a:lstStyle/>
          <a:p>
            <a:r>
              <a:t>Một phiên của L035: tracker +31,4 = trôi +32,3 + bất ngờ −0,9; tiến bộ thật 0,0</a:t>
            </a:r>
          </a:p>
        </p:txBody>
      </p:sp>
      <p:pic>
        <p:nvPicPr>
          <p:cNvPr id="4" name="Picture Placeholder 3" descr="manim_4c18e26d2d76652b.gif"/>
          <p:cNvPicPr>
            <a:picLocks noGrp="1" noChangeAspect="1"/>
          </p:cNvPicPr>
          <p:nvPr>
            <p:ph type="pic" idx="2"/>
          </p:nvPr>
        </p:nvPicPr>
        <p:blipFill>
          <a:blip r:embed="rId2"/>
          <a:srcRect/>
          <a:stretch>
            <a:fillRect/>
          </a:stretch>
        </p:blipFill>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H2 · Tiến bộ ảo trên toàn bộ 926 lần chạy</a:t>
            </a:r>
          </a:p>
        </p:txBody>
      </p:sp>
      <p:sp>
        <p:nvSpPr>
          <p:cNvPr id="3" name="Text Placeholder 2"/>
          <p:cNvSpPr>
            <a:spLocks noGrp="1"/>
          </p:cNvSpPr>
          <p:nvPr>
            <p:ph type="body" idx="1" sz="half"/>
          </p:nvPr>
        </p:nvSpPr>
        <p:spPr/>
        <p:txBody>
          <a:bodyPr/>
          <a:lstStyle/>
          <a:p>
            <a:r>
              <a:t>PPO thưởng DKT: tracker báo +25,7 điểm % [25,1; 26,4] trong khi tiến bộ thật bằng 0</a:t>
            </a:r>
          </a:p>
        </p:txBody>
      </p:sp>
      <p:pic>
        <p:nvPicPr>
          <p:cNvPr id="4" name="Picture Placeholder 3" descr="chart_h2.png"/>
          <p:cNvPicPr>
            <a:picLocks noGrp="1" noChangeAspect="1"/>
          </p:cNvPicPr>
          <p:nvPr>
            <p:ph type="pic" idx="2"/>
          </p:nvPr>
        </p:nvPicPr>
        <p:blipFill>
          <a:blip r:embed="rId2"/>
          <a:srcRect/>
          <a:stretch>
            <a:fillRect/>
          </a:stretch>
        </p:blipFill>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H3 · Thắng trong mô phỏng ≈ tạo nhiều tiến bộ ảo</a:t>
            </a:r>
          </a:p>
        </p:txBody>
      </p:sp>
      <p:sp>
        <p:nvSpPr>
          <p:cNvPr id="3" name="Text Placeholder 2"/>
          <p:cNvSpPr>
            <a:spLocks noGrp="1"/>
          </p:cNvSpPr>
          <p:nvPr>
            <p:ph type="body" idx="1" sz="half"/>
          </p:nvPr>
        </p:nvSpPr>
        <p:spPr/>
        <p:txBody>
          <a:bodyPr/>
          <a:lstStyle/>
          <a:p>
            <a:r>
              <a:t>Mỗi điểm là một chính sách; xếp hạng trong DKT-A gần trùng xếp hạng tiến bộ ảo ở IRT-B (ρ = 0,96)</a:t>
            </a:r>
          </a:p>
        </p:txBody>
      </p:sp>
      <p:pic>
        <p:nvPicPr>
          <p:cNvPr id="4" name="Picture Placeholder 3" descr="chart_h3.png"/>
          <p:cNvPicPr>
            <a:picLocks noGrp="1" noChangeAspect="1"/>
          </p:cNvPicPr>
          <p:nvPr>
            <p:ph type="pic" idx="2"/>
          </p:nvPr>
        </p:nvPicPr>
        <p:blipFill>
          <a:blip r:embed="rId2"/>
          <a:srcRect/>
          <a:stretch>
            <a:fillRect/>
          </a:stretch>
        </p:blipFill>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Vì sao: tiến bộ trong mô phỏng = độ trôi tích lũy</a:t>
            </a:r>
          </a:p>
        </p:txBody>
      </p:sp>
      <p:sp>
        <p:nvSpPr>
          <p:cNvPr id="3" name="Text Placeholder 2"/>
          <p:cNvSpPr>
            <a:spLocks noGrp="1"/>
          </p:cNvSpPr>
          <p:nvPr>
            <p:ph type="body" idx="1" sz="half"/>
          </p:nvPr>
        </p:nvSpPr>
        <p:spPr/>
        <p:txBody>
          <a:bodyPr/>
          <a:lstStyle/>
          <a:p>
            <a:r>
              <a:t>m: dự báo kiểm tra cuối của tracker · d: độ trôi (kỳ vọng thay đổi trước khi biết kết quả) · s: bất ngờ, trung bình 0 trong chính mô hình</a:t>
            </a:r>
          </a:p>
        </p:txBody>
      </p:sp>
      <p:pic>
        <p:nvPicPr>
          <p:cNvPr id="4" name="Picture Placeholder 3" descr="eq_drift.png"/>
          <p:cNvPicPr>
            <a:picLocks noGrp="1" noChangeAspect="1"/>
          </p:cNvPicPr>
          <p:nvPr>
            <p:ph type="pic" idx="2"/>
          </p:nvPr>
        </p:nvPicPr>
        <p:blipFill>
          <a:blip r:embed="rId2"/>
          <a:srcRect/>
          <a:stretch>
            <a:fillRect/>
          </a:stretch>
        </p:blipFill>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Bốn giả thuyết đăng ký trước</a:t>
            </a:r>
          </a:p>
        </p:txBody>
      </p:sp>
      <p:graphicFrame>
        <p:nvGraphicFramePr>
          <p:cNvPr id="3" name="Table 2"/>
          <p:cNvGraphicFramePr>
            <a:graphicFrameLocks noGrp="1"/>
          </p:cNvGraphicFramePr>
          <p:nvPr/>
        </p:nvGraphicFramePr>
        <p:xfrm>
          <a:off x="472287" y="1417320"/>
          <a:ext cx="11247120" cy="2834640"/>
        </p:xfrm>
        <a:graphic>
          <a:graphicData uri="http://schemas.openxmlformats.org/drawingml/2006/table">
            <a:tbl>
              <a:tblPr firstRow="1" bandRow="0">
                <a:tableStyleId>{2D5ABB26-0587-4C30-8999-92F81FD0307C}</a:tableStyleId>
              </a:tblPr>
              <a:tblGrid>
                <a:gridCol w="731520"/>
                <a:gridCol w="5029200"/>
                <a:gridCol w="3840480"/>
                <a:gridCol w="1645920"/>
              </a:tblGrid>
              <a:tr h="566928">
                <a:tc>
                  <a:txBody>
                    <a:bodyPr/>
                    <a:lstStyle/>
                    <a:p/>
                  </a:txBody>
                  <a:tcPr anchor="ctr" marL="128016" marR="128016">
                    <a:solidFill>
                      <a:srgbClr val="2E2E2E"/>
                    </a:solidFill>
                  </a:tcPr>
                </a:tc>
                <a:tc>
                  <a:txBody>
                    <a:bodyPr/>
                    <a:lstStyle/>
                    <a:p>
                      <a:r>
                        <a:rPr sz="1700" b="1">
                          <a:solidFill>
                            <a:srgbClr val="58C4DD"/>
                          </a:solidFill>
                        </a:rPr>
                        <a:t>Giả thuyết</a:t>
                      </a:r>
                    </a:p>
                  </a:txBody>
                  <a:tcPr anchor="ctr" marL="128016" marR="128016">
                    <a:solidFill>
                      <a:srgbClr val="2E2E2E"/>
                    </a:solidFill>
                  </a:tcPr>
                </a:tc>
                <a:tc>
                  <a:txBody>
                    <a:bodyPr/>
                    <a:lstStyle/>
                    <a:p>
                      <a:r>
                        <a:rPr sz="1700" b="1">
                          <a:solidFill>
                            <a:srgbClr val="58C4DD"/>
                          </a:solidFill>
                        </a:rPr>
                        <a:t>Số chính</a:t>
                      </a:r>
                    </a:p>
                  </a:txBody>
                  <a:tcPr anchor="ctr" marL="128016" marR="128016">
                    <a:solidFill>
                      <a:srgbClr val="2E2E2E"/>
                    </a:solidFill>
                  </a:tcPr>
                </a:tc>
                <a:tc>
                  <a:txBody>
                    <a:bodyPr/>
                    <a:lstStyle/>
                    <a:p>
                      <a:r>
                        <a:rPr sz="1700" b="1">
                          <a:solidFill>
                            <a:srgbClr val="58C4DD"/>
                          </a:solidFill>
                        </a:rPr>
                        <a:t>Kết luận</a:t>
                      </a:r>
                    </a:p>
                  </a:txBody>
                  <a:tcPr anchor="ctr" marL="128016" marR="128016">
                    <a:solidFill>
                      <a:srgbClr val="2E2E2E"/>
                    </a:solidFill>
                  </a:tcPr>
                </a:tc>
              </a:tr>
              <a:tr h="566928">
                <a:tc>
                  <a:txBody>
                    <a:bodyPr/>
                    <a:lstStyle/>
                    <a:p>
                      <a:r>
                        <a:rPr sz="1800" b="0">
                          <a:solidFill>
                            <a:srgbClr val="EDEDED"/>
                          </a:solidFill>
                        </a:rPr>
                        <a:t>H1</a:t>
                      </a:r>
                    </a:p>
                  </a:txBody>
                  <a:tcPr anchor="ctr" marL="128016" marR="128016">
                    <a:solidFill>
                      <a:srgbClr val="1C1C1C"/>
                    </a:solidFill>
                  </a:tcPr>
                </a:tc>
                <a:tc>
                  <a:txBody>
                    <a:bodyPr/>
                    <a:lstStyle/>
                    <a:p>
                      <a:r>
                        <a:rPr sz="1800" b="0">
                          <a:solidFill>
                            <a:srgbClr val="EDEDED"/>
                          </a:solidFill>
                        </a:rPr>
                        <a:t>Lợi thế trong bộ mô phỏng huấn luyện lớn hơn ở thế giới độc lập</a:t>
                      </a:r>
                    </a:p>
                  </a:txBody>
                  <a:tcPr anchor="ctr" marL="128016" marR="128016">
                    <a:solidFill>
                      <a:srgbClr val="1C1C1C"/>
                    </a:solidFill>
                  </a:tcPr>
                </a:tc>
                <a:tc>
                  <a:txBody>
                    <a:bodyPr/>
                    <a:lstStyle/>
                    <a:p>
                      <a:r>
                        <a:rPr sz="1800" b="0">
                          <a:solidFill>
                            <a:srgbClr val="EDEDED"/>
                          </a:solidFill>
                        </a:rPr>
                        <a:t>PPO-KT +27,2 ở DKT-A; ≤ +0,3 ở thế giới có học ẩn</a:t>
                      </a:r>
                    </a:p>
                  </a:txBody>
                  <a:tcPr anchor="ctr" marL="128016" marR="128016">
                    <a:solidFill>
                      <a:srgbClr val="1C1C1C"/>
                    </a:solidFill>
                  </a:tcPr>
                </a:tc>
                <a:tc>
                  <a:txBody>
                    <a:bodyPr/>
                    <a:lstStyle/>
                    <a:p>
                      <a:r>
                        <a:rPr sz="1800" b="0">
                          <a:solidFill>
                            <a:srgbClr val="EDEDED"/>
                          </a:solidFill>
                        </a:rPr>
                        <a:t>được ủng hộ</a:t>
                      </a:r>
                    </a:p>
                  </a:txBody>
                  <a:tcPr anchor="ctr" marL="128016" marR="128016">
                    <a:solidFill>
                      <a:srgbClr val="1C1C1C"/>
                    </a:solidFill>
                  </a:tcPr>
                </a:tc>
              </a:tr>
              <a:tr h="566928">
                <a:tc>
                  <a:txBody>
                    <a:bodyPr/>
                    <a:lstStyle/>
                    <a:p>
                      <a:r>
                        <a:rPr sz="1800" b="0">
                          <a:solidFill>
                            <a:srgbClr val="EDEDED"/>
                          </a:solidFill>
                        </a:rPr>
                        <a:t>H2</a:t>
                      </a:r>
                    </a:p>
                  </a:txBody>
                  <a:tcPr anchor="ctr" marL="128016" marR="128016">
                    <a:solidFill>
                      <a:srgbClr val="242424"/>
                    </a:solidFill>
                  </a:tcPr>
                </a:tc>
                <a:tc>
                  <a:txBody>
                    <a:bodyPr/>
                    <a:lstStyle/>
                    <a:p>
                      <a:r>
                        <a:rPr sz="1800" b="0">
                          <a:solidFill>
                            <a:srgbClr val="EDEDED"/>
                          </a:solidFill>
                        </a:rPr>
                        <a:t>Tracker báo tiến bộ ở thế giới không có học</a:t>
                      </a:r>
                    </a:p>
                  </a:txBody>
                  <a:tcPr anchor="ctr" marL="128016" marR="128016">
                    <a:solidFill>
                      <a:srgbClr val="242424"/>
                    </a:solidFill>
                  </a:tcPr>
                </a:tc>
                <a:tc>
                  <a:txBody>
                    <a:bodyPr/>
                    <a:lstStyle/>
                    <a:p>
                      <a:r>
                        <a:rPr sz="1800" b="0">
                          <a:solidFill>
                            <a:srgbClr val="EDEDED"/>
                          </a:solidFill>
                        </a:rPr>
                        <a:t>+25,7 [25,1; 26,4] điểm %</a:t>
                      </a:r>
                    </a:p>
                  </a:txBody>
                  <a:tcPr anchor="ctr" marL="128016" marR="128016">
                    <a:solidFill>
                      <a:srgbClr val="242424"/>
                    </a:solidFill>
                  </a:tcPr>
                </a:tc>
                <a:tc>
                  <a:txBody>
                    <a:bodyPr/>
                    <a:lstStyle/>
                    <a:p>
                      <a:r>
                        <a:rPr sz="1800" b="0">
                          <a:solidFill>
                            <a:srgbClr val="EDEDED"/>
                          </a:solidFill>
                        </a:rPr>
                        <a:t>được ủng hộ</a:t>
                      </a:r>
                    </a:p>
                  </a:txBody>
                  <a:tcPr anchor="ctr" marL="128016" marR="128016">
                    <a:solidFill>
                      <a:srgbClr val="242424"/>
                    </a:solidFill>
                  </a:tcPr>
                </a:tc>
              </a:tr>
              <a:tr h="566928">
                <a:tc>
                  <a:txBody>
                    <a:bodyPr/>
                    <a:lstStyle/>
                    <a:p>
                      <a:r>
                        <a:rPr sz="1800" b="0">
                          <a:solidFill>
                            <a:srgbClr val="EDEDED"/>
                          </a:solidFill>
                        </a:rPr>
                        <a:t>H3</a:t>
                      </a:r>
                    </a:p>
                  </a:txBody>
                  <a:tcPr anchor="ctr" marL="128016" marR="128016">
                    <a:solidFill>
                      <a:srgbClr val="1C1C1C"/>
                    </a:solidFill>
                  </a:tcPr>
                </a:tc>
                <a:tc>
                  <a:txBody>
                    <a:bodyPr/>
                    <a:lstStyle/>
                    <a:p>
                      <a:r>
                        <a:rPr sz="1800" b="0">
                          <a:solidFill>
                            <a:srgbClr val="EDEDED"/>
                          </a:solidFill>
                        </a:rPr>
                        <a:t>Xếp hạng trong mô phỏng tương quan với tiến bộ ảo</a:t>
                      </a:r>
                    </a:p>
                  </a:txBody>
                  <a:tcPr anchor="ctr" marL="128016" marR="128016">
                    <a:solidFill>
                      <a:srgbClr val="1C1C1C"/>
                    </a:solidFill>
                  </a:tcPr>
                </a:tc>
                <a:tc>
                  <a:txBody>
                    <a:bodyPr/>
                    <a:lstStyle/>
                    <a:p>
                      <a:r>
                        <a:rPr sz="1800" b="0">
                          <a:solidFill>
                            <a:srgbClr val="EDEDED"/>
                          </a:solidFill>
                        </a:rPr>
                        <a:t>ρ = 0,96, p &lt; 0,001</a:t>
                      </a:r>
                    </a:p>
                  </a:txBody>
                  <a:tcPr anchor="ctr" marL="128016" marR="128016">
                    <a:solidFill>
                      <a:srgbClr val="1C1C1C"/>
                    </a:solidFill>
                  </a:tcPr>
                </a:tc>
                <a:tc>
                  <a:txBody>
                    <a:bodyPr/>
                    <a:lstStyle/>
                    <a:p>
                      <a:r>
                        <a:rPr sz="1800" b="0">
                          <a:solidFill>
                            <a:srgbClr val="EDEDED"/>
                          </a:solidFill>
                        </a:rPr>
                        <a:t>được ủng hộ</a:t>
                      </a:r>
                    </a:p>
                  </a:txBody>
                  <a:tcPr anchor="ctr" marL="128016" marR="128016">
                    <a:solidFill>
                      <a:srgbClr val="1C1C1C"/>
                    </a:solidFill>
                  </a:tcPr>
                </a:tc>
              </a:tr>
              <a:tr h="566928">
                <a:tc>
                  <a:txBody>
                    <a:bodyPr/>
                    <a:lstStyle/>
                    <a:p>
                      <a:r>
                        <a:rPr sz="1800" b="0">
                          <a:solidFill>
                            <a:srgbClr val="EDEDED"/>
                          </a:solidFill>
                        </a:rPr>
                        <a:t>H4</a:t>
                      </a:r>
                    </a:p>
                  </a:txBody>
                  <a:tcPr anchor="ctr" marL="128016" marR="128016">
                    <a:solidFill>
                      <a:srgbClr val="242424"/>
                    </a:solidFill>
                  </a:tcPr>
                </a:tc>
                <a:tc>
                  <a:txBody>
                    <a:bodyPr/>
                    <a:lstStyle/>
                    <a:p>
                      <a:r>
                        <a:rPr sz="1800" b="0">
                          <a:solidFill>
                            <a:srgbClr val="EDEDED"/>
                          </a:solidFill>
                        </a:rPr>
                        <a:t>"Học" ngầm định của DKT phân tán hơn AFM</a:t>
                      </a:r>
                    </a:p>
                  </a:txBody>
                  <a:tcPr anchor="ctr" marL="128016" marR="128016">
                    <a:solidFill>
                      <a:srgbClr val="242424"/>
                    </a:solidFill>
                  </a:tcPr>
                </a:tc>
                <a:tc>
                  <a:txBody>
                    <a:bodyPr/>
                    <a:lstStyle/>
                    <a:p>
                      <a:r>
                        <a:rPr sz="1800" b="0">
                          <a:solidFill>
                            <a:srgbClr val="EDEDED"/>
                          </a:solidFill>
                        </a:rPr>
                        <a:t>+3,11 [3,06; 3,16] điểm %</a:t>
                      </a:r>
                    </a:p>
                  </a:txBody>
                  <a:tcPr anchor="ctr" marL="128016" marR="128016">
                    <a:solidFill>
                      <a:srgbClr val="242424"/>
                    </a:solidFill>
                  </a:tcPr>
                </a:tc>
                <a:tc>
                  <a:txBody>
                    <a:bodyPr/>
                    <a:lstStyle/>
                    <a:p>
                      <a:r>
                        <a:rPr sz="1800" b="0">
                          <a:solidFill>
                            <a:srgbClr val="EDEDED"/>
                          </a:solidFill>
                        </a:rPr>
                        <a:t>được ủng hộ</a:t>
                      </a:r>
                    </a:p>
                  </a:txBody>
                  <a:tcPr anchor="ctr" marL="128016" marR="128016">
                    <a:solidFill>
                      <a:srgbClr val="242424"/>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Vậy chính sách nào tốt?</a:t>
            </a:r>
          </a:p>
        </p:txBody>
      </p:sp>
      <p:sp>
        <p:nvSpPr>
          <p:cNvPr id="3" name="Content Placeholder 2"/>
          <p:cNvSpPr>
            <a:spLocks noGrp="1"/>
          </p:cNvSpPr>
          <p:nvPr>
            <p:ph idx="1" sz="half"/>
          </p:nvPr>
        </p:nvSpPr>
        <p:spPr/>
        <p:txBody>
          <a:bodyPr/>
          <a:lstStyle/>
          <a:p>
            <a:pPr/>
            <a:r>
              <a:t>Ở AFM-B (có học ẩn, độc lập): PPO học trong AFM đạt +3,14 điểm %</a:t>
            </a:r>
          </a:p>
          <a:p>
            <a:pPr/>
            <a:r>
              <a:t>Oracle một bước: +3,48 · chọn ngẫu nhiên: +1,72</a:t>
            </a:r>
          </a:p>
          <a:p>
            <a:pPr/>
            <a:r>
              <a:t>Tác tử học trong thế giới có học ẩn bền hơn và nộp thêm ít hơn</a:t>
            </a:r>
          </a:p>
        </p:txBody>
      </p:sp>
      <p:sp>
        <p:nvSpPr>
          <p:cNvPr id="4" name="Content Placeholder 3"/>
          <p:cNvSpPr>
            <a:spLocks noGrp="1"/>
          </p:cNvSpPr>
          <p:nvPr>
            <p:ph idx="2" sz="half"/>
          </p:nvPr>
        </p:nvSpPr>
        <p:spPr/>
        <p:txBody>
          <a:bodyPr/>
          <a:lstStyle/>
          <a:p>
            <a:pPr/>
            <a:r>
              <a:t>Nhưng chỉ bền trong cùng họ logistic; ở DKT-B lại kém ngẫu nhiên</a:t>
            </a:r>
          </a:p>
          <a:p>
            <a:pPr/>
            <a:r>
              <a:t>Khoảng cách thật giữa các chính sách nhỏ (vài điểm %)</a:t>
            </a:r>
          </a:p>
          <a:p>
            <a:pPr/>
            <a:r>
              <a:t>Không có kiểm chứng với người học thật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 Ứng dụng RetryLab</a:t>
            </a:r>
          </a:p>
        </p:txBody>
      </p:sp>
      <p:sp>
        <p:nvSpPr>
          <p:cNvPr id="3" name="Text Placeholder 2"/>
          <p:cNvSpPr>
            <a:spLocks noGrp="1"/>
          </p:cNvSpPr>
          <p:nvPr>
            <p:ph type="body" idx="1"/>
          </p:nvPr>
        </p:nvSpPr>
        <p:spPr/>
        <p:txBody>
          <a:bodyPr/>
          <a:lstStyle/>
          <a:p>
            <a:r>
              <a:t>ứng dụng máy tính chạy hoàn toàn trên máy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quan</a:t>
            </a:r>
          </a:p>
        </p:txBody>
      </p:sp>
      <p:sp>
        <p:nvSpPr>
          <p:cNvPr id="3" name="Text Placeholder 2"/>
          <p:cNvSpPr>
            <a:spLocks noGrp="1"/>
          </p:cNvSpPr>
          <p:nvPr>
            <p:ph type="body" idx="1" sz="half"/>
          </p:nvPr>
        </p:nvSpPr>
        <p:spPr/>
        <p:txBody>
          <a:bodyPr/>
          <a:lstStyle/>
          <a:p>
            <a:r>
              <a:t>Bấm đúp RetryLab.cmd · sáu màn hình · nút Thuyết trình chạy tour 8 bước</a:t>
            </a:r>
          </a:p>
        </p:txBody>
      </p:sp>
      <p:pic>
        <p:nvPicPr>
          <p:cNvPr id="4" name="Picture Placeholder 3" descr="app-overview-169.png"/>
          <p:cNvPicPr>
            <a:picLocks noGrp="1" noChangeAspect="1"/>
          </p:cNvPicPr>
          <p:nvPr>
            <p:ph type="pic" idx="2"/>
          </p:nvPr>
        </p:nvPicPr>
        <p:blipFill>
          <a:blip r:embed="rId2"/>
          <a:srcRect/>
          <a:stretch>
            <a:fillRect/>
          </a:stretch>
        </p:blipFill>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Phiên học: đối chứng âm chạy trực tiếp</a:t>
            </a:r>
          </a:p>
        </p:txBody>
      </p:sp>
      <p:sp>
        <p:nvSpPr>
          <p:cNvPr id="3" name="Text Placeholder 2"/>
          <p:cNvSpPr>
            <a:spLocks noGrp="1"/>
          </p:cNvSpPr>
          <p:nvPr>
            <p:ph type="body" idx="1" sz="half"/>
          </p:nvPr>
        </p:nvSpPr>
        <p:spPr/>
        <p:txBody>
          <a:bodyPr/>
          <a:lstStyle/>
          <a:p>
            <a:r>
              <a:t>Chọn học viên, thế giới và chính sách; xem từng bước gợi ý → làm bài → cập nhật</a:t>
            </a:r>
          </a:p>
        </p:txBody>
      </p:sp>
      <p:pic>
        <p:nvPicPr>
          <p:cNvPr id="4" name="Picture Placeholder 3" descr="app-session-negative-169.png"/>
          <p:cNvPicPr>
            <a:picLocks noGrp="1" noChangeAspect="1"/>
          </p:cNvPicPr>
          <p:nvPr>
            <p:ph type="pic" idx="2"/>
          </p:nvPr>
        </p:nvPicPr>
        <p:blipFill>
          <a:blip r:embed="rId2"/>
          <a:srcRect/>
          <a:stretch>
            <a:fillRect/>
          </a:stretch>
        </p:blipFill>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Đánh giá: 14 chính sách × 9 thế giới</a:t>
            </a:r>
          </a:p>
        </p:txBody>
      </p:sp>
      <p:sp>
        <p:nvSpPr>
          <p:cNvPr id="3" name="Text Placeholder 2"/>
          <p:cNvSpPr>
            <a:spLocks noGrp="1"/>
          </p:cNvSpPr>
          <p:nvPr>
            <p:ph type="body" idx="1" sz="half"/>
          </p:nvPr>
        </p:nvSpPr>
        <p:spPr/>
        <p:txBody>
          <a:bodyPr/>
          <a:lstStyle/>
          <a:p>
            <a:r>
              <a:t>Bấm một ô để xem khoảng tin cậy, tracker báo và tiến bộ ảo</a:t>
            </a:r>
          </a:p>
        </p:txBody>
      </p:sp>
      <p:pic>
        <p:nvPicPr>
          <p:cNvPr id="4" name="Picture Placeholder 3" descr="app-evaluation-169.png"/>
          <p:cNvPicPr>
            <a:picLocks noGrp="1" noChangeAspect="1"/>
          </p:cNvPicPr>
          <p:nvPr>
            <p:ph type="pic" idx="2"/>
          </p:nvPr>
        </p:nvPicPr>
        <p:blipFill>
          <a:blip r:embed="rId2"/>
          <a:srcRect/>
          <a:stretch>
            <a:fillRect/>
          </a:stretch>
        </p:blipFill>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Luyện tập: Python và C</a:t>
            </a:r>
          </a:p>
        </p:txBody>
      </p:sp>
      <p:sp>
        <p:nvSpPr>
          <p:cNvPr id="3" name="Text Placeholder 2"/>
          <p:cNvSpPr>
            <a:spLocks noGrp="1"/>
          </p:cNvSpPr>
          <p:nvPr>
            <p:ph type="body" idx="1" sz="half"/>
          </p:nvPr>
        </p:nvSpPr>
        <p:spPr/>
        <p:txBody>
          <a:bodyPr/>
          <a:lstStyle/>
          <a:p>
            <a:r>
              <a:t>12 bài Python (Pyodide) · 13 bài C (JSCPP) · code chạy ngay trong ứng dụng, không gửi lên máy chủ</a:t>
            </a:r>
          </a:p>
        </p:txBody>
      </p:sp>
      <p:pic>
        <p:nvPicPr>
          <p:cNvPr id="4" name="Picture Placeholder 3" descr="app-practice-c-169.png"/>
          <p:cNvPicPr>
            <a:picLocks noGrp="1" noChangeAspect="1"/>
          </p:cNvPicPr>
          <p:nvPr>
            <p:ph type="pic" idx="2"/>
          </p:nvPr>
        </p:nvPicPr>
        <p:blipFill>
          <a:blip r:embed="rId2"/>
          <a:srcRect/>
          <a:stretch>
            <a:fillRect/>
          </a:stretch>
        </p:blipFill>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Đáp ứng đề 4 và giới hạn</a:t>
            </a:r>
          </a:p>
        </p:txBody>
      </p:sp>
      <p:sp>
        <p:nvSpPr>
          <p:cNvPr id="3" name="Content Placeholder 2"/>
          <p:cNvSpPr>
            <a:spLocks noGrp="1"/>
          </p:cNvSpPr>
          <p:nvPr>
            <p:ph idx="1" sz="half"/>
          </p:nvPr>
        </p:nvSpPr>
        <p:spPr/>
        <p:txBody>
          <a:bodyPr/>
          <a:lstStyle/>
          <a:p>
            <a:pPr/>
            <a:r>
              <a:t>✓ DKT và cây ID3 theo entropy, chẩn đoán 10 kỹ năng</a:t>
            </a:r>
          </a:p>
          <a:p>
            <a:pPr/>
            <a:r>
              <a:t>✓ MDP với trạng thái, hành động, phần thưởng rõ ràng</a:t>
            </a:r>
          </a:p>
          <a:p>
            <a:pPr/>
            <a:r>
              <a:t>✓ Double DQN (Q-learning) và PPO, 18 tác tử, 3 seed</a:t>
            </a:r>
          </a:p>
          <a:p>
            <a:pPr/>
            <a:r>
              <a:t>✓ Ứng dụng: gợi ý kèm lý do, phiên học, luyện Python và C</a:t>
            </a:r>
          </a:p>
        </p:txBody>
      </p:sp>
      <p:sp>
        <p:nvSpPr>
          <p:cNvPr id="4" name="Content Placeholder 3"/>
          <p:cNvSpPr>
            <a:spLocks noGrp="1"/>
          </p:cNvSpPr>
          <p:nvPr>
            <p:ph idx="2" sz="half"/>
          </p:nvPr>
        </p:nvSpPr>
        <p:spPr/>
        <p:txBody>
          <a:bodyPr/>
          <a:lstStyle/>
          <a:p>
            <a:pPr/>
            <a:r>
              <a:t>Chi phí đo bằng số lần nộp, không phải thời gian giải</a:t>
            </a:r>
          </a:p>
          <a:p>
            <a:pPr/>
            <a:r>
              <a:t>Mọi kết quả chính sách là mô phỏng; chưa thử với sinh viên</a:t>
            </a:r>
          </a:p>
          <a:p>
            <a:pPr/>
            <a:r>
              <a:t>Một bộ dữ liệu (ACcoding, một trường)</a:t>
            </a:r>
          </a:p>
          <a:p>
            <a:pPr/>
            <a:r>
              <a:t>Bài C và Python tự soạn, không chung mã bài với ACcoding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Kết luận và hướng tiếp theo</a:t>
            </a:r>
          </a:p>
        </p:txBody>
      </p:sp>
      <p:sp>
        <p:nvSpPr>
          <p:cNvPr id="3" name="Content Placeholder 2"/>
          <p:cNvSpPr>
            <a:spLocks noGrp="1"/>
          </p:cNvSpPr>
          <p:nvPr>
            <p:ph idx="1"/>
          </p:nvPr>
        </p:nvSpPr>
        <p:spPr/>
        <p:txBody>
          <a:bodyPr/>
          <a:lstStyle/>
          <a:p>
            <a:pPr/>
            <a:r>
              <a:t>Đã làm trọn đề 4 trên dữ liệu thật: mô hình người học → MDP → DQN/PPO → ứng dụng</a:t>
            </a:r>
          </a:p>
          <a:p>
            <a:pPr/>
            <a:r>
              <a:t>Phát hiện chính: đánh giá chính sách bằng chính tracker tạo "tiến bộ ảo"</a:t>
            </a:r>
          </a:p>
          <a:p>
            <a:pPr/>
            <a:r>
              <a:t>Bốn kiểm tra rẻ: nhiều thế giới độc lập, đối chứng âm, tách độ trôi, so với bản song sinh</a:t>
            </a:r>
          </a:p>
          <a:p>
            <a:pPr/>
            <a:r>
              <a:t>Tiếp theo: tái lập trên CodeBench, phân tích độ nhạy, thử phần thưởng phạt bất đồng giữa các tracker</a:t>
            </a:r>
          </a:p>
          <a:p>
            <a:pPr/>
            <a:r>
              <a:t>Bản thảo tiếng Anh và tiếng Việt đã sẵn; cần người hướng dẫn đọc duyệt trước khi nộp</a:t>
            </a:r>
          </a:p>
        </p:txBody>
      </p:sp>
    </p:spTree>
  </p:cSld>
  <p:clrMapOvr>
    <a:masterClrMapping/>
  </p:clrMapOvr>
</p:sld>
</file>

<file path=ppt/theme/theme1.xml><?xml version="1.0" encoding="utf-8"?>
<a:theme xmlns:a="http://schemas.openxmlformats.org/drawingml/2006/main" name="Office Theme">
  <a:themeElements>
    <a:clrScheme name="RetryLab 3b1b">
      <a:dk1>
        <a:srgbClr val="1C1C1C"/>
      </a:dk1>
      <a:lt1>
        <a:srgbClr val="FFFFFF"/>
      </a:lt1>
      <a:dk2>
        <a:srgbClr val="2A2A2A"/>
      </a:dk2>
      <a:lt2>
        <a:srgbClr val="BDBDBD"/>
      </a:lt2>
      <a:accent1>
        <a:srgbClr val="58C4DD"/>
      </a:accent1>
      <a:accent2>
        <a:srgbClr val="F0AC5F"/>
      </a:accent2>
      <a:accent3>
        <a:srgbClr val="FC6255"/>
      </a:accent3>
      <a:accent4>
        <a:srgbClr val="83C167"/>
      </a:accent4>
      <a:accent5>
        <a:srgbClr val="5CD0B3"/>
      </a:accent5>
      <a:accent6>
        <a:srgbClr val="9A72AC"/>
      </a:accent6>
      <a:hlink>
        <a:srgbClr val="58C4DD"/>
      </a:hlink>
      <a:folHlink>
        <a:srgbClr val="9A72AC"/>
      </a:folHlink>
    </a:clrScheme>
    <a:fontScheme name="RetryLab">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