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B4A63"/>
                </a:solidFill>
                <a:latin typeface="Calibri"/>
              </a:defRPr>
            </a:pPr>
            <a:r>
              <a:rPr sz="1200" b="0" i="0" u="none" strike="noStrike">
                <a:solidFill>
                  <a:srgbClr val="3B4A63"/>
                </a:solidFill>
                <a:latin typeface="Calibri"/>
              </a:rPr>
              <a:t>Hơn ngẫu nhiên (điểm %)</a:t>
            </a:r>
          </a:p>
        </c:rich>
      </c:tx>
      <c:layout/>
      <c:overlay val="0"/>
    </c:title>
    <c:autoTitleDeleted val="0"/>
    <c:plotArea>
      <c:layout/>
      <c:barChart>
        <c:barDir val="col"/>
        <c:grouping val="clustered"/>
        <c:varyColors val="0"/>
        <c:ser>
          <c:idx val="0"/>
          <c:order val="0"/>
          <c:tx>
            <c:strRef>
              <c:f>Sheet1!$B$1</c:f>
              <c:strCache>
                <c:ptCount val="1"/>
                <c:pt idx="0">
                  <c:v>DQN · thưởng DKT</c:v>
                </c:pt>
              </c:strCache>
            </c:strRef>
          </c:tx>
          <c:spPr>
            <a:solidFill>
              <a:srgbClr val="3B4A63"/>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1"/>
            <c:showCatName val="0"/>
            <c:showSerName val="0"/>
            <c:showPercent val="0"/>
            <c:showBubbleSize val="0"/>
            <c:showLeaderLines val="0"/>
          </c:dLbls>
          <c:cat>
            <c:multiLvlStrRef>
              <c:f>Sheet1!$A$2:$A$8</c:f>
              <c:multiLvlStrCache>
                <c:ptCount val="7"/>
                <c:lvl>
                  <c:pt idx="0">
                    <c:v>DKT-A (huấn luyện)</c:v>
                  </c:pt>
                  <c:pt idx="1">
                    <c:v>DKT song sinh</c:v>
                  </c:pt>
                  <c:pt idx="2">
                    <c:v>DKT-B</c:v>
                  </c:pt>
                  <c:pt idx="3">
                    <c:v>SAKT-B</c:v>
                  </c:pt>
                  <c:pt idx="4">
                    <c:v>AFM-B</c:v>
                  </c:pt>
                  <c:pt idx="5">
                    <c:v>PFA-B</c:v>
                  </c:pt>
                  <c:pt idx="6">
                    <c:v>ZPD-B</c:v>
                  </c:pt>
                </c:lvl>
              </c:multiLvlStrCache>
            </c:multiLvlStrRef>
          </c:cat>
          <c:val>
            <c:numRef>
              <c:f>Sheet1!$B$2:$B$8</c:f>
              <c:numCache>
                <c:formatCode>General</c:formatCode>
                <c:ptCount val="7"/>
                <c:pt idx="0">
                  <c:v>13.168465947882261</c:v>
                </c:pt>
                <c:pt idx="1">
                  <c:v>7.123916491970383</c:v>
                </c:pt>
                <c:pt idx="2">
                  <c:v>6.259381290948241</c:v>
                </c:pt>
                <c:pt idx="3">
                  <c:v>0.7428577796688199</c:v>
                </c:pt>
                <c:pt idx="4">
                  <c:v>0.12386141300849396</c:v>
                </c:pt>
                <c:pt idx="5">
                  <c:v>0.19013023621413208</c:v>
                </c:pt>
                <c:pt idx="6">
                  <c:v>-0.24852652047997872</c:v>
                </c:pt>
              </c:numCache>
            </c:numRef>
          </c:val>
        </c:ser>
        <c:ser>
          <c:idx val="1"/>
          <c:order val="1"/>
          <c:tx>
            <c:strRef>
              <c:f>Sheet1!$C$1</c:f>
              <c:strCache>
                <c:ptCount val="1"/>
                <c:pt idx="0">
                  <c:v>PPO · thưởng DKT</c:v>
                </c:pt>
              </c:strCache>
            </c:strRef>
          </c:tx>
          <c:spPr>
            <a:solidFill>
              <a:srgbClr val="E4572E"/>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1"/>
            <c:showCatName val="0"/>
            <c:showSerName val="0"/>
            <c:showPercent val="0"/>
            <c:showBubbleSize val="0"/>
            <c:showLeaderLines val="0"/>
          </c:dLbls>
          <c:cat>
            <c:multiLvlStrRef>
              <c:f>Sheet1!$A$2:$A$8</c:f>
              <c:multiLvlStrCache>
                <c:ptCount val="7"/>
                <c:lvl>
                  <c:pt idx="0">
                    <c:v>DKT-A (huấn luyện)</c:v>
                  </c:pt>
                  <c:pt idx="1">
                    <c:v>DKT song sinh</c:v>
                  </c:pt>
                  <c:pt idx="2">
                    <c:v>DKT-B</c:v>
                  </c:pt>
                  <c:pt idx="3">
                    <c:v>SAKT-B</c:v>
                  </c:pt>
                  <c:pt idx="4">
                    <c:v>AFM-B</c:v>
                  </c:pt>
                  <c:pt idx="5">
                    <c:v>PFA-B</c:v>
                  </c:pt>
                  <c:pt idx="6">
                    <c:v>ZPD-B</c:v>
                  </c:pt>
                </c:lvl>
              </c:multiLvlStrCache>
            </c:multiLvlStrRef>
          </c:cat>
          <c:val>
            <c:numRef>
              <c:f>Sheet1!$C$2:$C$8</c:f>
              <c:numCache>
                <c:formatCode>General</c:formatCode>
                <c:ptCount val="7"/>
                <c:pt idx="0">
                  <c:v>27.16207044152057</c:v>
                </c:pt>
                <c:pt idx="1">
                  <c:v>10.070656628081764</c:v>
                </c:pt>
                <c:pt idx="2">
                  <c:v>1.3965580478965076</c:v>
                </c:pt>
                <c:pt idx="3">
                  <c:v>5.874308477461286</c:v>
                </c:pt>
                <c:pt idx="4">
                  <c:v>0.3177099798755841</c:v>
                </c:pt>
                <c:pt idx="5">
                  <c:v>0.34280373831283</c:v>
                </c:pt>
                <c:pt idx="6">
                  <c:v>-0.05097043509103138</c:v>
                </c:pt>
              </c:numCache>
            </c:numRef>
          </c:val>
        </c:ser>
        <c:dLbls>
          <c:numFmt formatCode="0.0" sourceLinked="0"/>
          <c:txPr>
            <a:bodyPr/>
            <a:lstStyle/>
            <a:p>
              <a:pPr>
                <a:defRPr b="0" i="0" strike="noStrike" sz="900" u="none">
                  <a:solidFill>
                    <a:srgbClr val="3B4A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B4A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B4A63"/>
                </a:solidFill>
                <a:latin typeface="Calibri"/>
              </a:defRPr>
            </a:pPr>
            <a:r>
              <a:rPr sz="1200" b="0" i="0" u="none" strike="noStrike">
                <a:solidFill>
                  <a:srgbClr val="3B4A63"/>
                </a:solidFill>
                <a:latin typeface="Calibri"/>
              </a:rPr>
              <a:t>Tiến bộ tracker báo cáo (điểm %)</a:t>
            </a:r>
          </a:p>
        </c:rich>
      </c:tx>
      <c:layout/>
      <c:overlay val="0"/>
    </c:title>
    <c:autoTitleDeleted val="0"/>
    <c:plotArea>
      <c:layout/>
      <c:barChart>
        <c:barDir val="bar"/>
        <c:grouping val="clustered"/>
        <c:varyColors val="0"/>
        <c:ser>
          <c:idx val="0"/>
          <c:order val="0"/>
          <c:tx>
            <c:strRef>
              <c:f>Sheet1!$B$1</c:f>
              <c:strCache>
                <c:ptCount val="1"/>
                <c:pt idx="0">
                  <c:v>Tracker DKT tự báo</c:v>
                </c:pt>
              </c:strCache>
            </c:strRef>
          </c:tx>
          <c:spPr>
            <a:solidFill>
              <a:srgbClr val="E4572E"/>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1"/>
            <c:showCatName val="0"/>
            <c:showSerName val="0"/>
            <c:showPercent val="0"/>
            <c:showBubbleSize val="0"/>
            <c:showLeaderLines val="0"/>
          </c:dLbls>
          <c:cat>
            <c:multiLvlStrRef>
              <c:f>Sheet1!$A$2:$A$10</c:f>
              <c:multiLvlStrCache>
                <c:ptCount val="9"/>
                <c:lvl>
                  <c:pt idx="0">
                    <c:v>PPO · thưởng DKT</c:v>
                  </c:pt>
                  <c:pt idx="1">
                    <c:v>DQN · thưởng DKT</c:v>
                  </c:pt>
                  <c:pt idx="2">
                    <c:v>Tham lam theo DKT</c:v>
                  </c:pt>
                  <c:pt idx="3">
                    <c:v>DQN · nhiều thế giới</c:v>
                  </c:pt>
                  <c:pt idx="4">
                    <c:v>PPO · thế giới AFM</c:v>
                  </c:pt>
                  <c:pt idx="5">
                    <c:v>Dễ → khó</c:v>
                  </c:pt>
                  <c:pt idx="6">
                    <c:v>Nhắm P=0,7</c:v>
                  </c:pt>
                  <c:pt idx="7">
                    <c:v>Ngẫu nhiên</c:v>
                  </c:pt>
                  <c:pt idx="8">
                    <c:v>Nhắm P=0,5</c:v>
                  </c:pt>
                </c:lvl>
              </c:multiLvlStrCache>
            </c:multiLvlStrRef>
          </c:cat>
          <c:val>
            <c:numRef>
              <c:f>Sheet1!$B$2:$B$10</c:f>
              <c:numCache>
                <c:formatCode>General</c:formatCode>
                <c:ptCount val="9"/>
                <c:pt idx="0">
                  <c:v>25.721323852961255</c:v>
                </c:pt>
                <c:pt idx="1">
                  <c:v>12.794273814132412</c:v>
                </c:pt>
                <c:pt idx="2">
                  <c:v>12.569603349409482</c:v>
                </c:pt>
                <c:pt idx="3">
                  <c:v>11.542701823706523</c:v>
                </c:pt>
                <c:pt idx="4">
                  <c:v>7.368222841327088</c:v>
                </c:pt>
                <c:pt idx="5">
                  <c:v>5.996347679564764</c:v>
                </c:pt>
                <c:pt idx="6">
                  <c:v>3.7458492825745053</c:v>
                </c:pt>
                <c:pt idx="7">
                  <c:v>1.7572093787696774</c:v>
                </c:pt>
                <c:pt idx="8">
                  <c:v>0.04113180765200479</c:v>
                </c:pt>
              </c:numCache>
            </c:numRef>
          </c:val>
        </c:ser>
        <c:dLbls>
          <c:numFmt formatCode="0.0" sourceLinked="0"/>
          <c:txPr>
            <a:bodyPr/>
            <a:lstStyle/>
            <a:p>
              <a:pPr>
                <a:defRPr b="0" i="0" strike="noStrike" sz="900" u="none">
                  <a:solidFill>
                    <a:srgbClr val="3B4A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B4A6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B4A63"/>
                </a:solidFill>
                <a:latin typeface="Calibri"/>
              </a:defRPr>
            </a:pPr>
            <a:r>
              <a:rPr sz="1200" b="0" i="0" u="none" strike="noStrike">
                <a:solidFill>
                  <a:srgbClr val="3B4A63"/>
                </a:solidFill>
                <a:latin typeface="Calibri"/>
              </a:rPr>
              <a:t>Độ phân tán “học ngầm định” mỗi bài (điểm %)</a:t>
            </a:r>
          </a:p>
        </c:rich>
      </c:tx>
      <c:layout/>
      <c:overlay val="0"/>
    </c:title>
    <c:autoTitleDeleted val="0"/>
    <c:plotArea>
      <c:layout/>
      <c:barChart>
        <c:barDir val="col"/>
        <c:grouping val="clustered"/>
        <c:varyColors val="0"/>
        <c:ser>
          <c:idx val="0"/>
          <c:order val="0"/>
          <c:tx>
            <c:strRef>
              <c:f>Sheet1!$B$1</c:f>
              <c:strCache>
                <c:ptCount val="1"/>
                <c:pt idx="0">
                  <c:v>Độ lệch chuẩn độ trôi</c:v>
                </c:pt>
              </c:strCache>
            </c:strRef>
          </c:tx>
          <c:spPr>
            <a:solidFill>
              <a:srgbClr val="3B4A63"/>
            </a:solidFill>
            <a:effectLst/>
          </c:spPr>
          <c:invertIfNegative val="0"/>
          <c:dLbls>
            <c:numFmt formatCode="0.00" sourceLinked="0"/>
            <c:txPr>
              <a:bodyPr/>
              <a:lstStyle/>
              <a:p>
                <a:pPr>
                  <a:defRPr b="0" i="0" strike="noStrike" sz="900" u="none">
                    <a:solidFill>
                      <a:srgbClr val="3B4A63"/>
                    </a:solidFill>
                    <a:latin typeface="Arial"/>
                  </a:defRPr>
                </a:pPr>
              </a:p>
            </c:txPr>
            <c:showLegendKey val="0"/>
            <c:showVal val="1"/>
            <c:showCatName val="0"/>
            <c:showSerName val="0"/>
            <c:showPercent val="0"/>
            <c:showBubbleSize val="0"/>
            <c:showLeaderLines val="0"/>
          </c:dLbls>
          <c:cat>
            <c:multiLvlStrRef>
              <c:f>Sheet1!$A$2:$A$7</c:f>
              <c:multiLvlStrCache>
                <c:ptCount val="6"/>
                <c:lvl>
                  <c:pt idx="0">
                    <c:v>DKT (tracker)</c:v>
                  </c:pt>
                  <c:pt idx="1">
                    <c:v>DKT song sinh</c:v>
                  </c:pt>
                  <c:pt idx="2">
                    <c:v>SAKT</c:v>
                  </c:pt>
                  <c:pt idx="3">
                    <c:v>AFM</c:v>
                  </c:pt>
                  <c:pt idx="4">
                    <c:v>PFA</c:v>
                  </c:pt>
                  <c:pt idx="5">
                    <c:v>IRT</c:v>
                  </c:pt>
                </c:lvl>
              </c:multiLvlStrCache>
            </c:multiLvlStrRef>
          </c:cat>
          <c:val>
            <c:numRef>
              <c:f>Sheet1!$B$2:$B$7</c:f>
              <c:numCache>
                <c:formatCode>General</c:formatCode>
                <c:ptCount val="6"/>
                <c:pt idx="0">
                  <c:v>3.3127847194978273</c:v>
                </c:pt>
                <c:pt idx="1">
                  <c:v>3.1513308970125986</c:v>
                </c:pt>
                <c:pt idx="2">
                  <c:v>2.012292648112901</c:v>
                </c:pt>
                <c:pt idx="3">
                  <c:v>0.20266180069513337</c:v>
                </c:pt>
                <c:pt idx="4">
                  <c:v>0.15998488772904906</c:v>
                </c:pt>
                <c:pt idx="5">
                  <c:v>4.0164462639428183e-16</c:v>
                </c:pt>
              </c:numCache>
            </c:numRef>
          </c:val>
        </c:ser>
        <c:dLbls>
          <c:numFmt formatCode="0.00" sourceLinked="0"/>
          <c:txPr>
            <a:bodyPr/>
            <a:lstStyle/>
            <a:p>
              <a:pPr>
                <a:defRPr b="0" i="0" strike="noStrike" sz="900" u="none">
                  <a:solidFill>
                    <a:srgbClr val="3B4A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4A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B4A63"/>
                </a:solidFill>
                <a:latin typeface="Calibri"/>
              </a:defRPr>
            </a:pPr>
            <a:r>
              <a:rPr sz="1200" b="0" i="0" u="none" strike="noStrike">
                <a:solidFill>
                  <a:srgbClr val="3B4A63"/>
                </a:solidFill>
                <a:latin typeface="Calibri"/>
              </a:rPr>
              <a:t>Hơn ngẫu nhiên (điểm %)</a:t>
            </a:r>
          </a:p>
        </c:rich>
      </c:tx>
      <c:layout/>
      <c:overlay val="0"/>
    </c:title>
    <c:autoTitleDeleted val="0"/>
    <c:plotArea>
      <c:layout/>
      <c:barChart>
        <c:barDir val="col"/>
        <c:grouping val="clustered"/>
        <c:varyColors val="0"/>
        <c:ser>
          <c:idx val="0"/>
          <c:order val="0"/>
          <c:tx>
            <c:strRef>
              <c:f>Sheet1!$B$1</c:f>
              <c:strCache>
                <c:ptCount val="1"/>
                <c:pt idx="0">
                  <c:v>DQN · AFM</c:v>
                </c:pt>
              </c:strCache>
            </c:strRef>
          </c:tx>
          <c:spPr>
            <a:solidFill>
              <a:srgbClr val="0E7C7B"/>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0"/>
            <c:showCatName val="0"/>
            <c:showSerName val="0"/>
            <c:showPercent val="0"/>
            <c:showBubbleSize val="0"/>
            <c:showLeaderLines val="0"/>
          </c:dLbls>
          <c:cat>
            <c:multiLvlStrRef>
              <c:f>Sheet1!$A$2:$A$4</c:f>
              <c:multiLvlStrCache>
                <c:ptCount val="3"/>
                <c:lvl>
                  <c:pt idx="0">
                    <c:v>AFM-B</c:v>
                  </c:pt>
                  <c:pt idx="1">
                    <c:v>PFA-B</c:v>
                  </c:pt>
                  <c:pt idx="2">
                    <c:v>ZPD-B</c:v>
                  </c:pt>
                </c:lvl>
              </c:multiLvlStrCache>
            </c:multiLvlStrRef>
          </c:cat>
          <c:val>
            <c:numRef>
              <c:f>Sheet1!$B$2:$B$4</c:f>
              <c:numCache>
                <c:formatCode>General</c:formatCode>
                <c:ptCount val="3"/>
                <c:pt idx="0">
                  <c:v>1.519201074822138</c:v>
                </c:pt>
                <c:pt idx="1">
                  <c:v>1.7189131659254513</c:v>
                </c:pt>
                <c:pt idx="2">
                  <c:v>0.6618577274367108</c:v>
                </c:pt>
              </c:numCache>
            </c:numRef>
          </c:val>
        </c:ser>
        <c:ser>
          <c:idx val="1"/>
          <c:order val="1"/>
          <c:tx>
            <c:strRef>
              <c:f>Sheet1!$C$1</c:f>
              <c:strCache>
                <c:ptCount val="1"/>
                <c:pt idx="0">
                  <c:v>PPO · AFM</c:v>
                </c:pt>
              </c:strCache>
            </c:strRef>
          </c:tx>
          <c:spPr>
            <a:solidFill>
              <a:srgbClr val="4FB3AF"/>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0"/>
            <c:showCatName val="0"/>
            <c:showSerName val="0"/>
            <c:showPercent val="0"/>
            <c:showBubbleSize val="0"/>
            <c:showLeaderLines val="0"/>
          </c:dLbls>
          <c:cat>
            <c:multiLvlStrRef>
              <c:f>Sheet1!$A$2:$A$4</c:f>
              <c:multiLvlStrCache>
                <c:ptCount val="3"/>
                <c:lvl>
                  <c:pt idx="0">
                    <c:v>AFM-B</c:v>
                  </c:pt>
                  <c:pt idx="1">
                    <c:v>PFA-B</c:v>
                  </c:pt>
                  <c:pt idx="2">
                    <c:v>ZPD-B</c:v>
                  </c:pt>
                </c:lvl>
              </c:multiLvlStrCache>
            </c:multiLvlStrRef>
          </c:cat>
          <c:val>
            <c:numRef>
              <c:f>Sheet1!$C$2:$C$4</c:f>
              <c:numCache>
                <c:formatCode>General</c:formatCode>
                <c:ptCount val="3"/>
                <c:pt idx="0">
                  <c:v>1.4240471776452557</c:v>
                </c:pt>
                <c:pt idx="1">
                  <c:v>1.7141864937310984</c:v>
                </c:pt>
                <c:pt idx="2">
                  <c:v>0.371287511409665</c:v>
                </c:pt>
              </c:numCache>
            </c:numRef>
          </c:val>
        </c:ser>
        <c:ser>
          <c:idx val="2"/>
          <c:order val="2"/>
          <c:tx>
            <c:strRef>
              <c:f>Sheet1!$D$1</c:f>
              <c:strCache>
                <c:ptCount val="1"/>
                <c:pt idx="0">
                  <c:v>Nhắm P=0,7</c:v>
                </c:pt>
              </c:strCache>
            </c:strRef>
          </c:tx>
          <c:spPr>
            <a:solidFill>
              <a:srgbClr val="3B4A63"/>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0"/>
            <c:showCatName val="0"/>
            <c:showSerName val="0"/>
            <c:showPercent val="0"/>
            <c:showBubbleSize val="0"/>
            <c:showLeaderLines val="0"/>
          </c:dLbls>
          <c:cat>
            <c:multiLvlStrRef>
              <c:f>Sheet1!$A$2:$A$4</c:f>
              <c:multiLvlStrCache>
                <c:ptCount val="3"/>
                <c:lvl>
                  <c:pt idx="0">
                    <c:v>AFM-B</c:v>
                  </c:pt>
                  <c:pt idx="1">
                    <c:v>PFA-B</c:v>
                  </c:pt>
                  <c:pt idx="2">
                    <c:v>ZPD-B</c:v>
                  </c:pt>
                </c:lvl>
              </c:multiLvlStrCache>
            </c:multiLvlStrRef>
          </c:cat>
          <c:val>
            <c:numRef>
              <c:f>Sheet1!$D$2:$D$4</c:f>
              <c:numCache>
                <c:formatCode>General</c:formatCode>
                <c:ptCount val="3"/>
                <c:pt idx="0">
                  <c:v>0.200640669553801</c:v>
                </c:pt>
                <c:pt idx="1">
                  <c:v>0.3976750118467507</c:v>
                </c:pt>
                <c:pt idx="2">
                  <c:v>0.19919031905151474</c:v>
                </c:pt>
              </c:numCache>
            </c:numRef>
          </c:val>
        </c:ser>
        <c:ser>
          <c:idx val="3"/>
          <c:order val="3"/>
          <c:tx>
            <c:strRef>
              <c:f>Sheet1!$E$1</c:f>
              <c:strCache>
                <c:ptCount val="1"/>
                <c:pt idx="0">
                  <c:v>DQN · thưởng DKT</c:v>
                </c:pt>
              </c:strCache>
            </c:strRef>
          </c:tx>
          <c:spPr>
            <a:solidFill>
              <a:srgbClr val="F2A28C"/>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0"/>
            <c:showCatName val="0"/>
            <c:showSerName val="0"/>
            <c:showPercent val="0"/>
            <c:showBubbleSize val="0"/>
            <c:showLeaderLines val="0"/>
          </c:dLbls>
          <c:cat>
            <c:multiLvlStrRef>
              <c:f>Sheet1!$A$2:$A$4</c:f>
              <c:multiLvlStrCache>
                <c:ptCount val="3"/>
                <c:lvl>
                  <c:pt idx="0">
                    <c:v>AFM-B</c:v>
                  </c:pt>
                  <c:pt idx="1">
                    <c:v>PFA-B</c:v>
                  </c:pt>
                  <c:pt idx="2">
                    <c:v>ZPD-B</c:v>
                  </c:pt>
                </c:lvl>
              </c:multiLvlStrCache>
            </c:multiLvlStrRef>
          </c:cat>
          <c:val>
            <c:numRef>
              <c:f>Sheet1!$E$2:$E$4</c:f>
              <c:numCache>
                <c:formatCode>General</c:formatCode>
                <c:ptCount val="3"/>
                <c:pt idx="0">
                  <c:v>0.12386141300849385</c:v>
                </c:pt>
                <c:pt idx="1">
                  <c:v>0.19013023621413194</c:v>
                </c:pt>
                <c:pt idx="2">
                  <c:v>-0.2485265204799787</c:v>
                </c:pt>
              </c:numCache>
            </c:numRef>
          </c:val>
        </c:ser>
        <c:ser>
          <c:idx val="4"/>
          <c:order val="4"/>
          <c:tx>
            <c:strRef>
              <c:f>Sheet1!$F$1</c:f>
              <c:strCache>
                <c:ptCount val="1"/>
                <c:pt idx="0">
                  <c:v>PPO · thưởng DKT</c:v>
                </c:pt>
              </c:strCache>
            </c:strRef>
          </c:tx>
          <c:spPr>
            <a:solidFill>
              <a:srgbClr val="E4572E"/>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0"/>
            <c:showCatName val="0"/>
            <c:showSerName val="0"/>
            <c:showPercent val="0"/>
            <c:showBubbleSize val="0"/>
            <c:showLeaderLines val="0"/>
          </c:dLbls>
          <c:cat>
            <c:multiLvlStrRef>
              <c:f>Sheet1!$A$2:$A$4</c:f>
              <c:multiLvlStrCache>
                <c:ptCount val="3"/>
                <c:lvl>
                  <c:pt idx="0">
                    <c:v>AFM-B</c:v>
                  </c:pt>
                  <c:pt idx="1">
                    <c:v>PFA-B</c:v>
                  </c:pt>
                  <c:pt idx="2">
                    <c:v>ZPD-B</c:v>
                  </c:pt>
                </c:lvl>
              </c:multiLvlStrCache>
            </c:multiLvlStrRef>
          </c:cat>
          <c:val>
            <c:numRef>
              <c:f>Sheet1!$F$2:$F$4</c:f>
              <c:numCache>
                <c:formatCode>General</c:formatCode>
                <c:ptCount val="3"/>
                <c:pt idx="0">
                  <c:v>0.31770997987558447</c:v>
                </c:pt>
                <c:pt idx="1">
                  <c:v>0.34280373831282973</c:v>
                </c:pt>
                <c:pt idx="2">
                  <c:v>-0.05097043509103116</c:v>
                </c:pt>
              </c:numCache>
            </c:numRef>
          </c:val>
        </c:ser>
        <c:ser>
          <c:idx val="5"/>
          <c:order val="5"/>
          <c:tx>
            <c:strRef>
              <c:f>Sheet1!$G$1</c:f>
              <c:strCache>
                <c:ptCount val="1"/>
                <c:pt idx="0">
                  <c:v>Dễ → khó</c:v>
                </c:pt>
              </c:strCache>
            </c:strRef>
          </c:tx>
          <c:spPr>
            <a:solidFill>
              <a:srgbClr val="9CA3AF"/>
            </a:solidFill>
            <a:effectLst/>
          </c:spPr>
          <c:invertIfNegative val="0"/>
          <c:dLbls>
            <c:numFmt formatCode="0.0" sourceLinked="0"/>
            <c:txPr>
              <a:bodyPr/>
              <a:lstStyle/>
              <a:p>
                <a:pPr>
                  <a:defRPr b="0" i="0" strike="noStrike" sz="900" u="none">
                    <a:solidFill>
                      <a:srgbClr val="3B4A63"/>
                    </a:solidFill>
                    <a:latin typeface="Arial"/>
                  </a:defRPr>
                </a:pPr>
              </a:p>
            </c:txPr>
            <c:showLegendKey val="0"/>
            <c:showVal val="0"/>
            <c:showCatName val="0"/>
            <c:showSerName val="0"/>
            <c:showPercent val="0"/>
            <c:showBubbleSize val="0"/>
            <c:showLeaderLines val="0"/>
          </c:dLbls>
          <c:cat>
            <c:multiLvlStrRef>
              <c:f>Sheet1!$A$2:$A$4</c:f>
              <c:multiLvlStrCache>
                <c:ptCount val="3"/>
                <c:lvl>
                  <c:pt idx="0">
                    <c:v>AFM-B</c:v>
                  </c:pt>
                  <c:pt idx="1">
                    <c:v>PFA-B</c:v>
                  </c:pt>
                  <c:pt idx="2">
                    <c:v>ZPD-B</c:v>
                  </c:pt>
                </c:lvl>
              </c:multiLvlStrCache>
            </c:multiLvlStrRef>
          </c:cat>
          <c:val>
            <c:numRef>
              <c:f>Sheet1!$G$2:$G$4</c:f>
              <c:numCache>
                <c:formatCode>General</c:formatCode>
                <c:ptCount val="3"/>
                <c:pt idx="0">
                  <c:v>-1.1895755738192806</c:v>
                </c:pt>
                <c:pt idx="1">
                  <c:v>-0.9940425917131208</c:v>
                </c:pt>
                <c:pt idx="2">
                  <c:v>-1.4053628071562407</c:v>
                </c:pt>
              </c:numCache>
            </c:numRef>
          </c:val>
        </c:ser>
        <c:dLbls>
          <c:numFmt formatCode="0.0" sourceLinked="0"/>
          <c:txPr>
            <a:bodyPr/>
            <a:lstStyle/>
            <a:p>
              <a:pPr>
                <a:defRPr b="0" i="0" strike="noStrike" sz="900" u="none">
                  <a:solidFill>
                    <a:srgbClr val="3B4A63"/>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4A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đề 4 yêu cầu một tác tử chọn bài tập tiếp theo dựa trên mô hình nhận thức và học tăng cường. Nhóm xây toàn bộ chuỗi trên dữ liệu thật và đặt câu hỏi phản biện: điểm số 'tiến bộ' mà các hệ KT+RL thường báo cáo có thật sự đo việc học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nguyên văn tinh thần đề 4 của thầy. Nhóm làm đủ cả ba: DKT và cây định danh entropy, MDP với phần thưởng gồm điểm và công sức, DQN và 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Tự đánh giá thẳng thắn: bản cũ là đồ chơi vì mọi thứ quan trọng đều do nhóm tự đặt. Bản mới học từ log thật và khóa giả thuyết trước để tránh 'chọn kết quả đẹp'.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công khai (CC BY 4.0). Chia người học bằng hash cố định trước khi xem kết quả: A để huấn luyện, B để đánh giá độc lập, T để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DKT có đủ dữ liệu thì bắt kịp IRT/PFA; cây ID3 kém hơn chút nhưng giải thích được. Điểm then chốt: sáu mô hình dự báo gần như y hệt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thưởng đúng như đề: cải thiện điểm (bài kiểm tra sau) và thời gian (đo bằng số lần nộp thêm). DQN là họ Q-learning, PPO là policy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tưởng then chốt: đối chứng âm như trong dịch tễ học. Ở IRT-B không ai học được gì, nên mọi 'tiến bộ' tracker báo ở đây đều là 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chỉ đánh giá trong DKT-A như nhiều bài báo KT+RL, ta sẽ kết luận RL rất tốt. Chuyển sang thế giới có cấu trúc học rõ ràng, lợi thế gần như biến mất.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phát hiện trung tâm: thứ hạng đánh giá trong simulator gần như chính là thứ hạng 'tiến bộ ảo'. Chính sách càng giỏi tối ưu tracker thì càng được tracker khen, dù không dạy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cụ chẩn đoán mới: tách tiến bộ tracker báo thành độ trôi (niềm tin nội tại của mô hình) và phần bằng chứng. Với IRT, độ trôi bằng 0 theo định luật xác suất toàn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 không vô dụng: khi thế giới huấn luyện có cấu trúc học rõ ràng, tác tử học được chính sách bền và tiết kiệm công sức. Lộ trình dễ→khó ('quá dễ') luôn kém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mở trang Nghiên cứu → Dữ liệu thật · v3. Trước buổi báo cáo chạy app/check_demo.cmd để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đừng tin con số tiến bộ trong simulator KT khi chưa qua bốn kiểm tra này. Tác tử học trong thế giới có cấu trúc học rõ ràng là lựa chọn bền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những gì chưa chứng minh được. Đây là điểm mạnh của nghiên cứu, không phải điểm yếu.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và mời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3C"/>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b="1" spc="200" kern="0" dirty="0">
                <a:solidFill>
                  <a:srgbClr val="8FD3CF"/>
                </a:solidFill>
                <a:latin typeface="Calibri" pitchFamily="34" charset="0"/>
                <a:ea typeface="Calibri" pitchFamily="34" charset="-122"/>
                <a:cs typeface="Calibri" pitchFamily="34" charset="-120"/>
              </a:rPr>
              <a:t>ĐỀ 4 · AAI · HỆ KHUYẾN NGHỊ BÀI TẬP LẬP TRÌNH CÁ NHÂN HÓA</a:t>
            </a:r>
            <a:endParaRPr lang="en-US" sz="1200" dirty="0"/>
          </a:p>
        </p:txBody>
      </p:sp>
      <p:sp>
        <p:nvSpPr>
          <p:cNvPr id="3" name="Text 1"/>
          <p:cNvSpPr txBox="1"/>
          <p:nvPr/>
        </p:nvSpPr>
        <p:spPr>
          <a:xfrm>
            <a:off x="548640" y="1051560"/>
            <a:ext cx="8046720" cy="14630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Tác tử chọn bài học từ dữ liệu thật —</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nó có thật sự “dạy”?</a:t>
            </a:r>
            <a:endParaRPr lang="en-US" sz="3600" dirty="0"/>
          </a:p>
        </p:txBody>
      </p:sp>
      <p:sp>
        <p:nvSpPr>
          <p:cNvPr id="4" name="Text 2"/>
          <p:cNvSpPr txBox="1"/>
          <p:nvPr/>
        </p:nvSpPr>
        <p:spPr>
          <a:xfrm>
            <a:off x="548640" y="2697480"/>
            <a:ext cx="7498080" cy="731520"/>
          </a:xfrm>
          <a:prstGeom prst="rect">
            <a:avLst/>
          </a:prstGeom>
          <a:noFill/>
          <a:ln/>
        </p:spPr>
        <p:txBody>
          <a:bodyPr wrap="square" lIns="0" tIns="0" rIns="0" bIns="0" rtlCol="0" anchor="ctr"/>
          <a:lstStyle/>
          <a:p>
            <a:pPr indent="0" marL="0">
              <a:buNone/>
            </a:pPr>
            <a:r>
              <a:rPr lang="en-US" sz="1500" dirty="0">
                <a:solidFill>
                  <a:srgbClr val="D6DEEA"/>
                </a:solidFill>
                <a:latin typeface="Calibri" pitchFamily="34" charset="0"/>
                <a:ea typeface="Calibri" pitchFamily="34" charset="-122"/>
                <a:cs typeface="Calibri" pitchFamily="34" charset="-120"/>
              </a:rPr>
              <a:t>Mô hình nhận thức (DKT, cây định danh entropy) → MDP → DQN/PPO → đánh giá trên 9 thế giới mô phỏng, trong đó có một thế giới không hề có học.</a:t>
            </a:r>
            <a:endParaRPr lang="en-US" sz="1500" dirty="0"/>
          </a:p>
        </p:txBody>
      </p:sp>
      <p:sp>
        <p:nvSpPr>
          <p:cNvPr id="5" name="Text 3"/>
          <p:cNvSpPr txBox="1"/>
          <p:nvPr/>
        </p:nvSpPr>
        <p:spPr>
          <a:xfrm>
            <a:off x="548640" y="3703320"/>
            <a:ext cx="246888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4.634</a:t>
            </a:r>
            <a:endParaRPr lang="en-US" sz="2800" dirty="0"/>
          </a:p>
        </p:txBody>
      </p:sp>
      <p:sp>
        <p:nvSpPr>
          <p:cNvPr id="6" name="Text 4"/>
          <p:cNvSpPr txBox="1"/>
          <p:nvPr/>
        </p:nvSpPr>
        <p:spPr>
          <a:xfrm>
            <a:off x="548640" y="4206240"/>
            <a:ext cx="2468880" cy="274320"/>
          </a:xfrm>
          <a:prstGeom prst="rect">
            <a:avLst/>
          </a:prstGeom>
          <a:noFill/>
          <a:ln/>
        </p:spPr>
        <p:txBody>
          <a:bodyPr wrap="square" lIns="0" tIns="0" rIns="0" bIns="0" rtlCol="0" anchor="ctr"/>
          <a:lstStyle/>
          <a:p>
            <a:pPr indent="0" marL="0">
              <a:buNone/>
            </a:pPr>
            <a:r>
              <a:rPr lang="en-US" sz="1200" dirty="0">
                <a:solidFill>
                  <a:srgbClr val="9AA7BD"/>
                </a:solidFill>
                <a:latin typeface="Calibri" pitchFamily="34" charset="0"/>
                <a:ea typeface="Calibri" pitchFamily="34" charset="-122"/>
                <a:cs typeface="Calibri" pitchFamily="34" charset="-120"/>
              </a:rPr>
              <a:t>người học thật</a:t>
            </a:r>
            <a:endParaRPr lang="en-US" sz="1200" dirty="0"/>
          </a:p>
        </p:txBody>
      </p:sp>
      <p:sp>
        <p:nvSpPr>
          <p:cNvPr id="7" name="Text 5"/>
          <p:cNvSpPr txBox="1"/>
          <p:nvPr/>
        </p:nvSpPr>
        <p:spPr>
          <a:xfrm>
            <a:off x="3200400" y="3703320"/>
            <a:ext cx="246888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1.291.558</a:t>
            </a:r>
            <a:endParaRPr lang="en-US" sz="2800" dirty="0"/>
          </a:p>
        </p:txBody>
      </p:sp>
      <p:sp>
        <p:nvSpPr>
          <p:cNvPr id="8" name="Text 6"/>
          <p:cNvSpPr txBox="1"/>
          <p:nvPr/>
        </p:nvSpPr>
        <p:spPr>
          <a:xfrm>
            <a:off x="3200400" y="4206240"/>
            <a:ext cx="2468880" cy="274320"/>
          </a:xfrm>
          <a:prstGeom prst="rect">
            <a:avLst/>
          </a:prstGeom>
          <a:noFill/>
          <a:ln/>
        </p:spPr>
        <p:txBody>
          <a:bodyPr wrap="square" lIns="0" tIns="0" rIns="0" bIns="0" rtlCol="0" anchor="ctr"/>
          <a:lstStyle/>
          <a:p>
            <a:pPr indent="0" marL="0">
              <a:buNone/>
            </a:pPr>
            <a:r>
              <a:rPr lang="en-US" sz="1200" dirty="0">
                <a:solidFill>
                  <a:srgbClr val="9AA7BD"/>
                </a:solidFill>
                <a:latin typeface="Calibri" pitchFamily="34" charset="0"/>
                <a:ea typeface="Calibri" pitchFamily="34" charset="-122"/>
                <a:cs typeface="Calibri" pitchFamily="34" charset="-120"/>
              </a:rPr>
              <a:t>lượt nộp C/C++</a:t>
            </a:r>
            <a:endParaRPr lang="en-US" sz="1200" dirty="0"/>
          </a:p>
        </p:txBody>
      </p:sp>
      <p:sp>
        <p:nvSpPr>
          <p:cNvPr id="9" name="Text 7"/>
          <p:cNvSpPr txBox="1"/>
          <p:nvPr/>
        </p:nvSpPr>
        <p:spPr>
          <a:xfrm>
            <a:off x="5852160" y="3703320"/>
            <a:ext cx="2468880" cy="502920"/>
          </a:xfrm>
          <a:prstGeom prst="rect">
            <a:avLst/>
          </a:prstGeom>
          <a:noFill/>
          <a:ln/>
        </p:spPr>
        <p:txBody>
          <a:bodyPr wrap="square" lIns="0" tIns="0" rIns="0" bIns="0" rtlCol="0" anchor="ctr"/>
          <a:lstStyle/>
          <a:p>
            <a:pPr indent="0" marL="0">
              <a:buNone/>
            </a:pPr>
            <a:r>
              <a:rPr lang="en-US" sz="2800" b="1" dirty="0">
                <a:solidFill>
                  <a:srgbClr val="8FD3CF"/>
                </a:solidFill>
                <a:latin typeface="Cambria" pitchFamily="34" charset="0"/>
                <a:ea typeface="Cambria" pitchFamily="34" charset="-122"/>
                <a:cs typeface="Cambria" pitchFamily="34" charset="-120"/>
              </a:rPr>
              <a:t>4/4</a:t>
            </a:r>
            <a:endParaRPr lang="en-US" sz="2800" dirty="0"/>
          </a:p>
        </p:txBody>
      </p:sp>
      <p:sp>
        <p:nvSpPr>
          <p:cNvPr id="10" name="Text 8"/>
          <p:cNvSpPr txBox="1"/>
          <p:nvPr/>
        </p:nvSpPr>
        <p:spPr>
          <a:xfrm>
            <a:off x="5852160" y="4206240"/>
            <a:ext cx="2468880" cy="274320"/>
          </a:xfrm>
          <a:prstGeom prst="rect">
            <a:avLst/>
          </a:prstGeom>
          <a:noFill/>
          <a:ln/>
        </p:spPr>
        <p:txBody>
          <a:bodyPr wrap="square" lIns="0" tIns="0" rIns="0" bIns="0" rtlCol="0" anchor="ctr"/>
          <a:lstStyle/>
          <a:p>
            <a:pPr indent="0" marL="0">
              <a:buNone/>
            </a:pPr>
            <a:r>
              <a:rPr lang="en-US" sz="1200" dirty="0">
                <a:solidFill>
                  <a:srgbClr val="9AA7BD"/>
                </a:solidFill>
                <a:latin typeface="Calibri" pitchFamily="34" charset="0"/>
                <a:ea typeface="Calibri" pitchFamily="34" charset="-122"/>
                <a:cs typeface="Calibri" pitchFamily="34" charset="-120"/>
              </a:rPr>
              <a:t>giả thuyết xác nhận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Đề bài yêu cầu gì?</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Ba thành phần kỹ thuật và một mục tiêu sư phạm</a:t>
            </a:r>
            <a:endParaRPr lang="en-US" sz="1300" dirty="0"/>
          </a:p>
        </p:txBody>
      </p:sp>
      <p:sp>
        <p:nvSpPr>
          <p:cNvPr id="4" name="Shape 2"/>
          <p:cNvSpPr/>
          <p:nvPr/>
        </p:nvSpPr>
        <p:spPr>
          <a:xfrm>
            <a:off x="457200" y="1325880"/>
            <a:ext cx="2606040" cy="2331720"/>
          </a:xfrm>
          <a:prstGeom prst="roundRect">
            <a:avLst>
              <a:gd name="adj" fmla="val 4706"/>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685800" y="1536192"/>
            <a:ext cx="420624" cy="420624"/>
          </a:xfrm>
          <a:prstGeom prst="ellipse">
            <a:avLst/>
          </a:prstGeom>
          <a:solidFill>
            <a:srgbClr val="0E7C7B"/>
          </a:solidFill>
          <a:ln w="12700">
            <a:solidFill>
              <a:srgbClr val="0E7C7B"/>
            </a:solidFill>
            <a:prstDash val="solid"/>
          </a:ln>
        </p:spPr>
      </p:sp>
      <p:sp>
        <p:nvSpPr>
          <p:cNvPr id="6" name="Text 4"/>
          <p:cNvSpPr txBox="1"/>
          <p:nvPr/>
        </p:nvSpPr>
        <p:spPr>
          <a:xfrm>
            <a:off x="685800" y="1536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85800" y="2057400"/>
            <a:ext cx="2194560" cy="365760"/>
          </a:xfrm>
          <a:prstGeom prst="rect">
            <a:avLst/>
          </a:prstGeom>
          <a:noFill/>
          <a:ln/>
        </p:spPr>
        <p:txBody>
          <a:bodyPr wrap="square" lIns="0" tIns="0" rIns="0" bIns="0" rtlCol="0" anchor="ctr"/>
          <a:lstStyle/>
          <a:p>
            <a:pPr indent="0" marL="0">
              <a:buNone/>
            </a:pPr>
            <a:r>
              <a:rPr lang="en-US" sz="1600" b="1" dirty="0">
                <a:solidFill>
                  <a:srgbClr val="13213C"/>
                </a:solidFill>
                <a:latin typeface="Cambria" pitchFamily="34" charset="0"/>
                <a:ea typeface="Cambria" pitchFamily="34" charset="-122"/>
                <a:cs typeface="Cambria" pitchFamily="34" charset="-120"/>
              </a:rPr>
              <a:t>Mô hình hóa nhận thức</a:t>
            </a:r>
            <a:endParaRPr lang="en-US" sz="1600" dirty="0"/>
          </a:p>
        </p:txBody>
      </p:sp>
      <p:sp>
        <p:nvSpPr>
          <p:cNvPr id="8" name="Text 6"/>
          <p:cNvSpPr txBox="1"/>
          <p:nvPr/>
        </p:nvSpPr>
        <p:spPr>
          <a:xfrm>
            <a:off x="685800" y="2468880"/>
            <a:ext cx="2194560" cy="1097280"/>
          </a:xfrm>
          <a:prstGeom prst="rect">
            <a:avLst/>
          </a:prstGeom>
          <a:noFill/>
          <a:ln/>
        </p:spPr>
        <p:txBody>
          <a:bodyPr wrap="square" lIns="0" tIns="0" rIns="0" bIns="0" rtlCol="0" anchor="t"/>
          <a:lstStyle/>
          <a:p>
            <a:pPr indent="0" marL="0">
              <a:buNone/>
            </a:pPr>
            <a:r>
              <a:rPr lang="en-US" sz="1250" dirty="0">
                <a:solidFill>
                  <a:srgbClr val="3B4A63"/>
                </a:solidFill>
                <a:latin typeface="Calibri" pitchFamily="34" charset="0"/>
                <a:ea typeface="Calibri" pitchFamily="34" charset="-122"/>
                <a:cs typeface="Calibri" pitchFamily="34" charset="-120"/>
              </a:rPr>
              <a:t>DKT hoặc cây định danh rút gọn dựa trên entropy để chẩn đoán kỹ năng yếu/mạnh (mảng, con trỏ, vòng lặp…).</a:t>
            </a:r>
            <a:endParaRPr lang="en-US" sz="1250" dirty="0"/>
          </a:p>
        </p:txBody>
      </p:sp>
      <p:sp>
        <p:nvSpPr>
          <p:cNvPr id="9" name="Shape 7"/>
          <p:cNvSpPr/>
          <p:nvPr/>
        </p:nvSpPr>
        <p:spPr>
          <a:xfrm>
            <a:off x="3246120" y="1325880"/>
            <a:ext cx="2606040" cy="2331720"/>
          </a:xfrm>
          <a:prstGeom prst="roundRect">
            <a:avLst>
              <a:gd name="adj" fmla="val 4706"/>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3474720" y="1536192"/>
            <a:ext cx="420624" cy="420624"/>
          </a:xfrm>
          <a:prstGeom prst="ellipse">
            <a:avLst/>
          </a:prstGeom>
          <a:solidFill>
            <a:srgbClr val="0E7C7B"/>
          </a:solidFill>
          <a:ln w="12700">
            <a:solidFill>
              <a:srgbClr val="0E7C7B"/>
            </a:solidFill>
            <a:prstDash val="solid"/>
          </a:ln>
        </p:spPr>
      </p:sp>
      <p:sp>
        <p:nvSpPr>
          <p:cNvPr id="11" name="Text 9"/>
          <p:cNvSpPr txBox="1"/>
          <p:nvPr/>
        </p:nvSpPr>
        <p:spPr>
          <a:xfrm>
            <a:off x="3474720" y="1536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474720" y="2057400"/>
            <a:ext cx="2194560" cy="365760"/>
          </a:xfrm>
          <a:prstGeom prst="rect">
            <a:avLst/>
          </a:prstGeom>
          <a:noFill/>
          <a:ln/>
        </p:spPr>
        <p:txBody>
          <a:bodyPr wrap="square" lIns="0" tIns="0" rIns="0" bIns="0" rtlCol="0" anchor="ctr"/>
          <a:lstStyle/>
          <a:p>
            <a:pPr indent="0" marL="0">
              <a:buNone/>
            </a:pPr>
            <a:r>
              <a:rPr lang="en-US" sz="1600" b="1" dirty="0">
                <a:solidFill>
                  <a:srgbClr val="13213C"/>
                </a:solidFill>
                <a:latin typeface="Cambria" pitchFamily="34" charset="0"/>
                <a:ea typeface="Cambria" pitchFamily="34" charset="-122"/>
                <a:cs typeface="Cambria" pitchFamily="34" charset="-120"/>
              </a:rPr>
              <a:t>Khung quyết định MDP</a:t>
            </a:r>
            <a:endParaRPr lang="en-US" sz="1600" dirty="0"/>
          </a:p>
        </p:txBody>
      </p:sp>
      <p:sp>
        <p:nvSpPr>
          <p:cNvPr id="13" name="Text 11"/>
          <p:cNvSpPr txBox="1"/>
          <p:nvPr/>
        </p:nvSpPr>
        <p:spPr>
          <a:xfrm>
            <a:off x="3474720" y="2468880"/>
            <a:ext cx="2194560" cy="1097280"/>
          </a:xfrm>
          <a:prstGeom prst="rect">
            <a:avLst/>
          </a:prstGeom>
          <a:noFill/>
          <a:ln/>
        </p:spPr>
        <p:txBody>
          <a:bodyPr wrap="square" lIns="0" tIns="0" rIns="0" bIns="0" rtlCol="0" anchor="t"/>
          <a:lstStyle/>
          <a:p>
            <a:pPr indent="0" marL="0">
              <a:buNone/>
            </a:pPr>
            <a:r>
              <a:rPr lang="en-US" sz="1250" dirty="0">
                <a:solidFill>
                  <a:srgbClr val="3B4A63"/>
                </a:solidFill>
                <a:latin typeface="Calibri" pitchFamily="34" charset="0"/>
                <a:ea typeface="Calibri" pitchFamily="34" charset="-122"/>
                <a:cs typeface="Calibri" pitchFamily="34" charset="-120"/>
              </a:rPr>
              <a:t>Trạng thái = mức hiểu; hành động = đề xuất một bài; phần thưởng = cải thiện điểm và thời gian giải.</a:t>
            </a:r>
            <a:endParaRPr lang="en-US" sz="1250" dirty="0"/>
          </a:p>
        </p:txBody>
      </p:sp>
      <p:sp>
        <p:nvSpPr>
          <p:cNvPr id="14" name="Shape 12"/>
          <p:cNvSpPr/>
          <p:nvPr/>
        </p:nvSpPr>
        <p:spPr>
          <a:xfrm>
            <a:off x="6035040" y="1325880"/>
            <a:ext cx="2606040" cy="2331720"/>
          </a:xfrm>
          <a:prstGeom prst="roundRect">
            <a:avLst>
              <a:gd name="adj" fmla="val 4706"/>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15" name="Shape 13"/>
          <p:cNvSpPr/>
          <p:nvPr/>
        </p:nvSpPr>
        <p:spPr>
          <a:xfrm>
            <a:off x="6263640" y="1536192"/>
            <a:ext cx="420624" cy="420624"/>
          </a:xfrm>
          <a:prstGeom prst="ellipse">
            <a:avLst/>
          </a:prstGeom>
          <a:solidFill>
            <a:srgbClr val="0E7C7B"/>
          </a:solidFill>
          <a:ln w="12700">
            <a:solidFill>
              <a:srgbClr val="0E7C7B"/>
            </a:solidFill>
            <a:prstDash val="solid"/>
          </a:ln>
        </p:spPr>
      </p:sp>
      <p:sp>
        <p:nvSpPr>
          <p:cNvPr id="16" name="Text 14"/>
          <p:cNvSpPr txBox="1"/>
          <p:nvPr/>
        </p:nvSpPr>
        <p:spPr>
          <a:xfrm>
            <a:off x="6263640" y="1536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6263640" y="2057400"/>
            <a:ext cx="2194560" cy="365760"/>
          </a:xfrm>
          <a:prstGeom prst="rect">
            <a:avLst/>
          </a:prstGeom>
          <a:noFill/>
          <a:ln/>
        </p:spPr>
        <p:txBody>
          <a:bodyPr wrap="square" lIns="0" tIns="0" rIns="0" bIns="0" rtlCol="0" anchor="ctr"/>
          <a:lstStyle/>
          <a:p>
            <a:pPr indent="0" marL="0">
              <a:buNone/>
            </a:pPr>
            <a:r>
              <a:rPr lang="en-US" sz="1600" b="1" dirty="0">
                <a:solidFill>
                  <a:srgbClr val="13213C"/>
                </a:solidFill>
                <a:latin typeface="Cambria" pitchFamily="34" charset="0"/>
                <a:ea typeface="Cambria" pitchFamily="34" charset="-122"/>
                <a:cs typeface="Cambria" pitchFamily="34" charset="-120"/>
              </a:rPr>
              <a:t>Học chính sách</a:t>
            </a:r>
            <a:endParaRPr lang="en-US" sz="1600" dirty="0"/>
          </a:p>
        </p:txBody>
      </p:sp>
      <p:sp>
        <p:nvSpPr>
          <p:cNvPr id="18" name="Text 16"/>
          <p:cNvSpPr txBox="1"/>
          <p:nvPr/>
        </p:nvSpPr>
        <p:spPr>
          <a:xfrm>
            <a:off x="6263640" y="2468880"/>
            <a:ext cx="2194560" cy="1097280"/>
          </a:xfrm>
          <a:prstGeom prst="rect">
            <a:avLst/>
          </a:prstGeom>
          <a:noFill/>
          <a:ln/>
        </p:spPr>
        <p:txBody>
          <a:bodyPr wrap="square" lIns="0" tIns="0" rIns="0" bIns="0" rtlCol="0" anchor="t"/>
          <a:lstStyle/>
          <a:p>
            <a:pPr indent="0" marL="0">
              <a:buNone/>
            </a:pPr>
            <a:r>
              <a:rPr lang="en-US" sz="1250" dirty="0">
                <a:solidFill>
                  <a:srgbClr val="3B4A63"/>
                </a:solidFill>
                <a:latin typeface="Calibri" pitchFamily="34" charset="0"/>
                <a:ea typeface="Calibri" pitchFamily="34" charset="-122"/>
                <a:cs typeface="Calibri" pitchFamily="34" charset="-120"/>
              </a:rPr>
              <a:t>Huấn luyện tác tử bằng Q-learning (DQN) hoặc PPO.</a:t>
            </a:r>
            <a:endParaRPr lang="en-US" sz="1250" dirty="0"/>
          </a:p>
        </p:txBody>
      </p:sp>
      <p:sp>
        <p:nvSpPr>
          <p:cNvPr id="19" name="Shape 17"/>
          <p:cNvSpPr/>
          <p:nvPr/>
        </p:nvSpPr>
        <p:spPr>
          <a:xfrm>
            <a:off x="457200" y="3886200"/>
            <a:ext cx="8229600" cy="685800"/>
          </a:xfrm>
          <a:prstGeom prst="roundRect">
            <a:avLst>
              <a:gd name="adj" fmla="val 16000"/>
            </a:avLst>
          </a:prstGeom>
          <a:solidFill>
            <a:srgbClr val="D7EFEE"/>
          </a:solidFill>
          <a:ln w="12700">
            <a:solidFill>
              <a:srgbClr val="D7EFEE"/>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685800" y="3959352"/>
            <a:ext cx="7772400" cy="54864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Mục tiêu: </a:t>
            </a:r>
            <a:pPr indent="0" marL="0">
              <a:buNone/>
            </a:pPr>
            <a:r>
              <a:rPr lang="en-US" sz="1400" dirty="0">
                <a:solidFill>
                  <a:srgbClr val="13213C"/>
                </a:solidFill>
                <a:latin typeface="Calibri" pitchFamily="34" charset="0"/>
                <a:ea typeface="Calibri" pitchFamily="34" charset="-122"/>
                <a:cs typeface="Calibri" pitchFamily="34" charset="-120"/>
              </a:rPr>
              <a:t>chọn bài “vừa sức” — vùng phát triển gần nhất: quá khó thì nản, quá dễ thì chán.</a:t>
            </a:r>
            <a:endParaRPr lang="en-US" sz="1400" dirty="0"/>
          </a:p>
        </p:txBody>
      </p:sp>
      <p:sp>
        <p:nvSpPr>
          <p:cNvPr id="21" name="Text 19"/>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Vì sao phải làm lại trên dữ liệu thật?</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Bản trước chỉ là mô phỏng do nhóm tự đặt tham số</a:t>
            </a:r>
            <a:endParaRPr lang="en-US" sz="1300" dirty="0"/>
          </a:p>
        </p:txBody>
      </p:sp>
      <p:sp>
        <p:nvSpPr>
          <p:cNvPr id="4" name="Shape 2"/>
          <p:cNvSpPr/>
          <p:nvPr/>
        </p:nvSpPr>
        <p:spPr>
          <a:xfrm>
            <a:off x="457200" y="1325880"/>
            <a:ext cx="3977640" cy="3017520"/>
          </a:xfrm>
          <a:prstGeom prst="roundRect">
            <a:avLst>
              <a:gd name="adj" fmla="val 3636"/>
            </a:avLst>
          </a:prstGeom>
          <a:solidFill>
            <a:srgbClr val="FCE3DA"/>
          </a:solidFill>
          <a:ln w="12700">
            <a:solidFill>
              <a:srgbClr val="FCE3DA"/>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731520" y="1481328"/>
            <a:ext cx="3566160" cy="365760"/>
          </a:xfrm>
          <a:prstGeom prst="rect">
            <a:avLst/>
          </a:prstGeom>
          <a:noFill/>
          <a:ln/>
        </p:spPr>
        <p:txBody>
          <a:bodyPr wrap="square" lIns="0" tIns="0" rIns="0" bIns="0" rtlCol="0" anchor="ctr"/>
          <a:lstStyle/>
          <a:p>
            <a:pPr indent="0" marL="0">
              <a:buNone/>
            </a:pPr>
            <a:r>
              <a:rPr lang="en-US" sz="1700" b="1" dirty="0">
                <a:solidFill>
                  <a:srgbClr val="E4572E"/>
                </a:solidFill>
                <a:latin typeface="Cambria" pitchFamily="34" charset="0"/>
                <a:ea typeface="Cambria" pitchFamily="34" charset="-122"/>
                <a:cs typeface="Cambria" pitchFamily="34" charset="-120"/>
              </a:rPr>
              <a:t>Trước (v1–v2)</a:t>
            </a:r>
            <a:endParaRPr lang="en-US" sz="1700" dirty="0"/>
          </a:p>
        </p:txBody>
      </p:sp>
      <p:sp>
        <p:nvSpPr>
          <p:cNvPr id="6" name="Text 4"/>
          <p:cNvSpPr txBox="1"/>
          <p:nvPr/>
        </p:nvSpPr>
        <p:spPr>
          <a:xfrm>
            <a:off x="731520" y="1920240"/>
            <a:ext cx="352044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Thế giới BKT 3 kỹ năng, 12 bài tự viết</a:t>
            </a:r>
            <a:endParaRPr lang="en-US" sz="1350" dirty="0"/>
          </a:p>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Tham số học/đoán/trượt do nhóm tự đặt</a:t>
            </a:r>
            <a:endParaRPr lang="en-US" sz="1350" dirty="0"/>
          </a:p>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Không có DKT, không có PPO</a:t>
            </a:r>
            <a:endParaRPr lang="en-US" sz="1350" dirty="0"/>
          </a:p>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Dữ liệu thật chỉ dùng cho dự báo, tách rời việc chọn bài</a:t>
            </a:r>
            <a:endParaRPr lang="en-US" sz="1350" dirty="0"/>
          </a:p>
        </p:txBody>
      </p:sp>
      <p:sp>
        <p:nvSpPr>
          <p:cNvPr id="7" name="Shape 5"/>
          <p:cNvSpPr/>
          <p:nvPr/>
        </p:nvSpPr>
        <p:spPr>
          <a:xfrm>
            <a:off x="4709160" y="1325880"/>
            <a:ext cx="3977640" cy="3017520"/>
          </a:xfrm>
          <a:prstGeom prst="roundRect">
            <a:avLst>
              <a:gd name="adj" fmla="val 3636"/>
            </a:avLst>
          </a:prstGeom>
          <a:solidFill>
            <a:srgbClr val="D7EFEE"/>
          </a:solidFill>
          <a:ln w="12700">
            <a:solidFill>
              <a:srgbClr val="D7EFEE"/>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4983480" y="1481328"/>
            <a:ext cx="3566160" cy="365760"/>
          </a:xfrm>
          <a:prstGeom prst="rect">
            <a:avLst/>
          </a:prstGeom>
          <a:noFill/>
          <a:ln/>
        </p:spPr>
        <p:txBody>
          <a:bodyPr wrap="square" lIns="0" tIns="0" rIns="0" bIns="0" rtlCol="0" anchor="ctr"/>
          <a:lstStyle/>
          <a:p>
            <a:pPr indent="0" marL="0">
              <a:buNone/>
            </a:pPr>
            <a:r>
              <a:rPr lang="en-US" sz="1700" b="1" dirty="0">
                <a:solidFill>
                  <a:srgbClr val="0E7C7B"/>
                </a:solidFill>
                <a:latin typeface="Cambria" pitchFamily="34" charset="0"/>
                <a:ea typeface="Cambria" pitchFamily="34" charset="-122"/>
                <a:cs typeface="Cambria" pitchFamily="34" charset="-120"/>
              </a:rPr>
              <a:t>Nay (v3)</a:t>
            </a:r>
            <a:endParaRPr lang="en-US" sz="1700" dirty="0"/>
          </a:p>
        </p:txBody>
      </p:sp>
      <p:sp>
        <p:nvSpPr>
          <p:cNvPr id="9" name="Text 7"/>
          <p:cNvSpPr txBox="1"/>
          <p:nvPr/>
        </p:nvSpPr>
        <p:spPr>
          <a:xfrm>
            <a:off x="4983480" y="1920240"/>
            <a:ext cx="352044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4.634 người học thật, 562.912 lượt gặp bài đầu</a:t>
            </a:r>
            <a:endParaRPr lang="en-US" sz="1350" dirty="0"/>
          </a:p>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3.882 bài C; nhãn kỹ năng do giảng viên gán</a:t>
            </a:r>
            <a:endParaRPr lang="en-US" sz="1350" dirty="0"/>
          </a:p>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6 mô hình người học + cây định danh; DQN và PPO</a:t>
            </a:r>
            <a:endParaRPr lang="en-US" sz="1350" dirty="0"/>
          </a:p>
          <a:p>
            <a:pPr marL="342900" indent="-342900">
              <a:spcAft>
                <a:spcPts val="600"/>
              </a:spcAft>
              <a:buSzPct val="100000"/>
              <a:buChar char="•"/>
            </a:pPr>
            <a:r>
              <a:rPr lang="en-US" sz="1350" dirty="0">
                <a:solidFill>
                  <a:srgbClr val="13213C"/>
                </a:solidFill>
                <a:latin typeface="Calibri" pitchFamily="34" charset="0"/>
                <a:ea typeface="Calibri" pitchFamily="34" charset="-122"/>
                <a:cs typeface="Calibri" pitchFamily="34" charset="-120"/>
              </a:rPr>
              <a:t>Protocol và 4 giả thuyết khóa trước khi mở dữ liệu</a:t>
            </a:r>
            <a:endParaRPr lang="en-US" sz="1350" dirty="0"/>
          </a:p>
        </p:txBody>
      </p:sp>
      <p:sp>
        <p:nvSpPr>
          <p:cNvPr id="10" name="Text 8"/>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300" b="1" dirty="0">
                <a:solidFill>
                  <a:srgbClr val="13213C"/>
                </a:solidFill>
                <a:latin typeface="Cambria" pitchFamily="34" charset="0"/>
                <a:ea typeface="Cambria" pitchFamily="34" charset="-122"/>
                <a:cs typeface="Cambria" pitchFamily="34" charset="-120"/>
              </a:rPr>
              <a:t>Dữ liệu: ACcoding, OJ lập trình C của Đại học Beihang</a:t>
            </a:r>
            <a:endParaRPr lang="en-US" sz="23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Chỉ dùng người học chưa từng xuất hiện trong các nghiên cứu trước</a:t>
            </a:r>
            <a:endParaRPr lang="en-US" sz="1300" dirty="0"/>
          </a:p>
        </p:txBody>
      </p:sp>
      <p:sp>
        <p:nvSpPr>
          <p:cNvPr id="4" name="Shape 2"/>
          <p:cNvSpPr/>
          <p:nvPr/>
        </p:nvSpPr>
        <p:spPr>
          <a:xfrm>
            <a:off x="457200" y="1325880"/>
            <a:ext cx="1901952" cy="1188720"/>
          </a:xfrm>
          <a:prstGeom prst="roundRect">
            <a:avLst>
              <a:gd name="adj" fmla="val 9231"/>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594360" y="1463040"/>
            <a:ext cx="1645920" cy="548640"/>
          </a:xfrm>
          <a:prstGeom prst="rect">
            <a:avLst/>
          </a:prstGeom>
          <a:noFill/>
          <a:ln/>
        </p:spPr>
        <p:txBody>
          <a:bodyPr wrap="square" lIns="0" tIns="0" rIns="0" bIns="0" rtlCol="0" anchor="ctr"/>
          <a:lstStyle/>
          <a:p>
            <a:pPr indent="0" marL="0">
              <a:buNone/>
            </a:pPr>
            <a:r>
              <a:rPr lang="en-US" sz="2400" b="1" dirty="0">
                <a:solidFill>
                  <a:srgbClr val="0E7C7B"/>
                </a:solidFill>
                <a:latin typeface="Cambria" pitchFamily="34" charset="0"/>
                <a:ea typeface="Cambria" pitchFamily="34" charset="-122"/>
                <a:cs typeface="Cambria" pitchFamily="34" charset="-120"/>
              </a:rPr>
              <a:t>4.634</a:t>
            </a:r>
            <a:endParaRPr lang="en-US" sz="2400" dirty="0"/>
          </a:p>
        </p:txBody>
      </p:sp>
      <p:sp>
        <p:nvSpPr>
          <p:cNvPr id="6" name="Text 4"/>
          <p:cNvSpPr txBox="1"/>
          <p:nvPr/>
        </p:nvSpPr>
        <p:spPr>
          <a:xfrm>
            <a:off x="594360" y="2011680"/>
            <a:ext cx="1645920" cy="365760"/>
          </a:xfrm>
          <a:prstGeom prst="rect">
            <a:avLst/>
          </a:prstGeom>
          <a:noFill/>
          <a:ln/>
        </p:spPr>
        <p:txBody>
          <a:bodyPr wrap="square" lIns="0" tIns="0" rIns="0" bIns="0" rtlCol="0" anchor="ctr"/>
          <a:lstStyle/>
          <a:p>
            <a:pPr indent="0" marL="0">
              <a:buNone/>
            </a:pPr>
            <a:r>
              <a:rPr lang="en-US" sz="1200" dirty="0">
                <a:solidFill>
                  <a:srgbClr val="3B4A63"/>
                </a:solidFill>
                <a:latin typeface="Calibri" pitchFamily="34" charset="0"/>
                <a:ea typeface="Calibri" pitchFamily="34" charset="-122"/>
                <a:cs typeface="Calibri" pitchFamily="34" charset="-120"/>
              </a:rPr>
              <a:t>người học (≥ 20 bài)</a:t>
            </a:r>
            <a:endParaRPr lang="en-US" sz="1200" dirty="0"/>
          </a:p>
        </p:txBody>
      </p:sp>
      <p:sp>
        <p:nvSpPr>
          <p:cNvPr id="7" name="Shape 5"/>
          <p:cNvSpPr/>
          <p:nvPr/>
        </p:nvSpPr>
        <p:spPr>
          <a:xfrm>
            <a:off x="2542032" y="1325880"/>
            <a:ext cx="1901952" cy="1188720"/>
          </a:xfrm>
          <a:prstGeom prst="roundRect">
            <a:avLst>
              <a:gd name="adj" fmla="val 9231"/>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2679192" y="1463040"/>
            <a:ext cx="1645920" cy="548640"/>
          </a:xfrm>
          <a:prstGeom prst="rect">
            <a:avLst/>
          </a:prstGeom>
          <a:noFill/>
          <a:ln/>
        </p:spPr>
        <p:txBody>
          <a:bodyPr wrap="square" lIns="0" tIns="0" rIns="0" bIns="0" rtlCol="0" anchor="ctr"/>
          <a:lstStyle/>
          <a:p>
            <a:pPr indent="0" marL="0">
              <a:buNone/>
            </a:pPr>
            <a:r>
              <a:rPr lang="en-US" sz="2400" b="1" dirty="0">
                <a:solidFill>
                  <a:srgbClr val="0E7C7B"/>
                </a:solidFill>
                <a:latin typeface="Cambria" pitchFamily="34" charset="0"/>
                <a:ea typeface="Cambria" pitchFamily="34" charset="-122"/>
                <a:cs typeface="Cambria" pitchFamily="34" charset="-120"/>
              </a:rPr>
              <a:t>1.291.558</a:t>
            </a:r>
            <a:endParaRPr lang="en-US" sz="2400" dirty="0"/>
          </a:p>
        </p:txBody>
      </p:sp>
      <p:sp>
        <p:nvSpPr>
          <p:cNvPr id="9" name="Text 7"/>
          <p:cNvSpPr txBox="1"/>
          <p:nvPr/>
        </p:nvSpPr>
        <p:spPr>
          <a:xfrm>
            <a:off x="2679192" y="2011680"/>
            <a:ext cx="1645920" cy="365760"/>
          </a:xfrm>
          <a:prstGeom prst="rect">
            <a:avLst/>
          </a:prstGeom>
          <a:noFill/>
          <a:ln/>
        </p:spPr>
        <p:txBody>
          <a:bodyPr wrap="square" lIns="0" tIns="0" rIns="0" bIns="0" rtlCol="0" anchor="ctr"/>
          <a:lstStyle/>
          <a:p>
            <a:pPr indent="0" marL="0">
              <a:buNone/>
            </a:pPr>
            <a:r>
              <a:rPr lang="en-US" sz="1200" dirty="0">
                <a:solidFill>
                  <a:srgbClr val="3B4A63"/>
                </a:solidFill>
                <a:latin typeface="Calibri" pitchFamily="34" charset="0"/>
                <a:ea typeface="Calibri" pitchFamily="34" charset="-122"/>
                <a:cs typeface="Calibri" pitchFamily="34" charset="-120"/>
              </a:rPr>
              <a:t>lượt nộp C/C++</a:t>
            </a:r>
            <a:endParaRPr lang="en-US" sz="1200" dirty="0"/>
          </a:p>
        </p:txBody>
      </p:sp>
      <p:sp>
        <p:nvSpPr>
          <p:cNvPr id="10" name="Shape 8"/>
          <p:cNvSpPr/>
          <p:nvPr/>
        </p:nvSpPr>
        <p:spPr>
          <a:xfrm>
            <a:off x="4626864" y="1325880"/>
            <a:ext cx="1901952" cy="1188720"/>
          </a:xfrm>
          <a:prstGeom prst="roundRect">
            <a:avLst>
              <a:gd name="adj" fmla="val 9231"/>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11" name="Text 9"/>
          <p:cNvSpPr txBox="1"/>
          <p:nvPr/>
        </p:nvSpPr>
        <p:spPr>
          <a:xfrm>
            <a:off x="4764024" y="1463040"/>
            <a:ext cx="1645920" cy="548640"/>
          </a:xfrm>
          <a:prstGeom prst="rect">
            <a:avLst/>
          </a:prstGeom>
          <a:noFill/>
          <a:ln/>
        </p:spPr>
        <p:txBody>
          <a:bodyPr wrap="square" lIns="0" tIns="0" rIns="0" bIns="0" rtlCol="0" anchor="ctr"/>
          <a:lstStyle/>
          <a:p>
            <a:pPr indent="0" marL="0">
              <a:buNone/>
            </a:pPr>
            <a:r>
              <a:rPr lang="en-US" sz="2400" b="1" dirty="0">
                <a:solidFill>
                  <a:srgbClr val="0E7C7B"/>
                </a:solidFill>
                <a:latin typeface="Cambria" pitchFamily="34" charset="0"/>
                <a:ea typeface="Cambria" pitchFamily="34" charset="-122"/>
                <a:cs typeface="Cambria" pitchFamily="34" charset="-120"/>
              </a:rPr>
              <a:t>562.912</a:t>
            </a:r>
            <a:endParaRPr lang="en-US" sz="2400" dirty="0"/>
          </a:p>
        </p:txBody>
      </p:sp>
      <p:sp>
        <p:nvSpPr>
          <p:cNvPr id="12" name="Text 10"/>
          <p:cNvSpPr txBox="1"/>
          <p:nvPr/>
        </p:nvSpPr>
        <p:spPr>
          <a:xfrm>
            <a:off x="4764024" y="2011680"/>
            <a:ext cx="1645920" cy="365760"/>
          </a:xfrm>
          <a:prstGeom prst="rect">
            <a:avLst/>
          </a:prstGeom>
          <a:noFill/>
          <a:ln/>
        </p:spPr>
        <p:txBody>
          <a:bodyPr wrap="square" lIns="0" tIns="0" rIns="0" bIns="0" rtlCol="0" anchor="ctr"/>
          <a:lstStyle/>
          <a:p>
            <a:pPr indent="0" marL="0">
              <a:buNone/>
            </a:pPr>
            <a:r>
              <a:rPr lang="en-US" sz="1200" dirty="0">
                <a:solidFill>
                  <a:srgbClr val="3B4A63"/>
                </a:solidFill>
                <a:latin typeface="Calibri" pitchFamily="34" charset="0"/>
                <a:ea typeface="Calibri" pitchFamily="34" charset="-122"/>
                <a:cs typeface="Calibri" pitchFamily="34" charset="-120"/>
              </a:rPr>
              <a:t>lượt gặp bài đầu tiên</a:t>
            </a:r>
            <a:endParaRPr lang="en-US" sz="1200" dirty="0"/>
          </a:p>
        </p:txBody>
      </p:sp>
      <p:sp>
        <p:nvSpPr>
          <p:cNvPr id="13" name="Shape 11"/>
          <p:cNvSpPr/>
          <p:nvPr/>
        </p:nvSpPr>
        <p:spPr>
          <a:xfrm>
            <a:off x="6711696" y="1325880"/>
            <a:ext cx="1901952" cy="1188720"/>
          </a:xfrm>
          <a:prstGeom prst="roundRect">
            <a:avLst>
              <a:gd name="adj" fmla="val 9231"/>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14" name="Text 12"/>
          <p:cNvSpPr txBox="1"/>
          <p:nvPr/>
        </p:nvSpPr>
        <p:spPr>
          <a:xfrm>
            <a:off x="6848856" y="1463040"/>
            <a:ext cx="1645920" cy="548640"/>
          </a:xfrm>
          <a:prstGeom prst="rect">
            <a:avLst/>
          </a:prstGeom>
          <a:noFill/>
          <a:ln/>
        </p:spPr>
        <p:txBody>
          <a:bodyPr wrap="square" lIns="0" tIns="0" rIns="0" bIns="0" rtlCol="0" anchor="ctr"/>
          <a:lstStyle/>
          <a:p>
            <a:pPr indent="0" marL="0">
              <a:buNone/>
            </a:pPr>
            <a:r>
              <a:rPr lang="en-US" sz="2400" b="1" dirty="0">
                <a:solidFill>
                  <a:srgbClr val="0E7C7B"/>
                </a:solidFill>
                <a:latin typeface="Cambria" pitchFamily="34" charset="0"/>
                <a:ea typeface="Cambria" pitchFamily="34" charset="-122"/>
                <a:cs typeface="Cambria" pitchFamily="34" charset="-120"/>
              </a:rPr>
              <a:t>3.882</a:t>
            </a:r>
            <a:endParaRPr lang="en-US" sz="2400" dirty="0"/>
          </a:p>
        </p:txBody>
      </p:sp>
      <p:sp>
        <p:nvSpPr>
          <p:cNvPr id="15" name="Text 13"/>
          <p:cNvSpPr txBox="1"/>
          <p:nvPr/>
        </p:nvSpPr>
        <p:spPr>
          <a:xfrm>
            <a:off x="6848856" y="2011680"/>
            <a:ext cx="1645920" cy="365760"/>
          </a:xfrm>
          <a:prstGeom prst="rect">
            <a:avLst/>
          </a:prstGeom>
          <a:noFill/>
          <a:ln/>
        </p:spPr>
        <p:txBody>
          <a:bodyPr wrap="square" lIns="0" tIns="0" rIns="0" bIns="0" rtlCol="0" anchor="ctr"/>
          <a:lstStyle/>
          <a:p>
            <a:pPr indent="0" marL="0">
              <a:buNone/>
            </a:pPr>
            <a:r>
              <a:rPr lang="en-US" sz="1200" dirty="0">
                <a:solidFill>
                  <a:srgbClr val="3B4A63"/>
                </a:solidFill>
                <a:latin typeface="Calibri" pitchFamily="34" charset="0"/>
                <a:ea typeface="Calibri" pitchFamily="34" charset="-122"/>
                <a:cs typeface="Calibri" pitchFamily="34" charset="-120"/>
              </a:rPr>
              <a:t>bài tập</a:t>
            </a:r>
            <a:endParaRPr lang="en-US" sz="1200" dirty="0"/>
          </a:p>
        </p:txBody>
      </p:sp>
      <p:sp>
        <p:nvSpPr>
          <p:cNvPr id="16" name="Shape 14"/>
          <p:cNvSpPr/>
          <p:nvPr/>
        </p:nvSpPr>
        <p:spPr>
          <a:xfrm>
            <a:off x="457200" y="2788920"/>
            <a:ext cx="2606040" cy="960120"/>
          </a:xfrm>
          <a:prstGeom prst="roundRect">
            <a:avLst>
              <a:gd name="adj" fmla="val 9524"/>
            </a:avLst>
          </a:prstGeom>
          <a:solidFill>
            <a:srgbClr val="FFFFFF"/>
          </a:solidFill>
          <a:ln w="19050">
            <a:solidFill>
              <a:srgbClr val="0E7C7B"/>
            </a:solidFill>
            <a:prstDash val="solid"/>
          </a:ln>
        </p:spPr>
      </p:sp>
      <p:sp>
        <p:nvSpPr>
          <p:cNvPr id="17" name="Text 15"/>
          <p:cNvSpPr txBox="1"/>
          <p:nvPr/>
        </p:nvSpPr>
        <p:spPr>
          <a:xfrm>
            <a:off x="640080" y="2862072"/>
            <a:ext cx="2286000" cy="365760"/>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A · 40%</a:t>
            </a:r>
            <a:endParaRPr lang="en-US" sz="1600" dirty="0"/>
          </a:p>
        </p:txBody>
      </p:sp>
      <p:sp>
        <p:nvSpPr>
          <p:cNvPr id="18" name="Text 16"/>
          <p:cNvSpPr txBox="1"/>
          <p:nvPr/>
        </p:nvSpPr>
        <p:spPr>
          <a:xfrm>
            <a:off x="640080" y="3218688"/>
            <a:ext cx="2286000" cy="457200"/>
          </a:xfrm>
          <a:prstGeom prst="rect">
            <a:avLst/>
          </a:prstGeom>
          <a:noFill/>
          <a:ln/>
        </p:spPr>
        <p:txBody>
          <a:bodyPr wrap="square" lIns="0" tIns="0" rIns="0" bIns="0" rtlCol="0" anchor="ctr"/>
          <a:lstStyle/>
          <a:p>
            <a:pPr indent="0" marL="0">
              <a:buNone/>
            </a:pPr>
            <a:r>
              <a:rPr lang="en-US" sz="1200" dirty="0">
                <a:solidFill>
                  <a:srgbClr val="3B4A63"/>
                </a:solidFill>
                <a:latin typeface="Calibri" pitchFamily="34" charset="0"/>
                <a:ea typeface="Calibri" pitchFamily="34" charset="-122"/>
                <a:cs typeface="Calibri" pitchFamily="34" charset="-120"/>
              </a:rPr>
              <a:t>fit tracker DKT và thế giới huấn luyện</a:t>
            </a:r>
            <a:endParaRPr lang="en-US" sz="1200" dirty="0"/>
          </a:p>
        </p:txBody>
      </p:sp>
      <p:sp>
        <p:nvSpPr>
          <p:cNvPr id="19" name="Shape 17"/>
          <p:cNvSpPr/>
          <p:nvPr/>
        </p:nvSpPr>
        <p:spPr>
          <a:xfrm>
            <a:off x="3246120" y="2788920"/>
            <a:ext cx="2606040" cy="960120"/>
          </a:xfrm>
          <a:prstGeom prst="roundRect">
            <a:avLst>
              <a:gd name="adj" fmla="val 9524"/>
            </a:avLst>
          </a:prstGeom>
          <a:solidFill>
            <a:srgbClr val="FFFFFF"/>
          </a:solidFill>
          <a:ln w="19050">
            <a:solidFill>
              <a:srgbClr val="3B4A63"/>
            </a:solidFill>
            <a:prstDash val="solid"/>
          </a:ln>
        </p:spPr>
      </p:sp>
      <p:sp>
        <p:nvSpPr>
          <p:cNvPr id="20" name="Text 18"/>
          <p:cNvSpPr txBox="1"/>
          <p:nvPr/>
        </p:nvSpPr>
        <p:spPr>
          <a:xfrm>
            <a:off x="3429000" y="2862072"/>
            <a:ext cx="2286000" cy="365760"/>
          </a:xfrm>
          <a:prstGeom prst="rect">
            <a:avLst/>
          </a:prstGeom>
          <a:noFill/>
          <a:ln/>
        </p:spPr>
        <p:txBody>
          <a:bodyPr wrap="square" lIns="0" tIns="0" rIns="0" bIns="0" rtlCol="0" anchor="ctr"/>
          <a:lstStyle/>
          <a:p>
            <a:pPr indent="0" marL="0">
              <a:buNone/>
            </a:pPr>
            <a:r>
              <a:rPr lang="en-US" sz="1600" b="1" dirty="0">
                <a:solidFill>
                  <a:srgbClr val="3B4A63"/>
                </a:solidFill>
                <a:latin typeface="Cambria" pitchFamily="34" charset="0"/>
                <a:ea typeface="Cambria" pitchFamily="34" charset="-122"/>
                <a:cs typeface="Cambria" pitchFamily="34" charset="-120"/>
              </a:rPr>
              <a:t>B · 40%</a:t>
            </a:r>
            <a:endParaRPr lang="en-US" sz="1600" dirty="0"/>
          </a:p>
        </p:txBody>
      </p:sp>
      <p:sp>
        <p:nvSpPr>
          <p:cNvPr id="21" name="Text 19"/>
          <p:cNvSpPr txBox="1"/>
          <p:nvPr/>
        </p:nvSpPr>
        <p:spPr>
          <a:xfrm>
            <a:off x="3429000" y="3218688"/>
            <a:ext cx="2286000" cy="457200"/>
          </a:xfrm>
          <a:prstGeom prst="rect">
            <a:avLst/>
          </a:prstGeom>
          <a:noFill/>
          <a:ln/>
        </p:spPr>
        <p:txBody>
          <a:bodyPr wrap="square" lIns="0" tIns="0" rIns="0" bIns="0" rtlCol="0" anchor="ctr"/>
          <a:lstStyle/>
          <a:p>
            <a:pPr indent="0" marL="0">
              <a:buNone/>
            </a:pPr>
            <a:r>
              <a:rPr lang="en-US" sz="1200" dirty="0">
                <a:solidFill>
                  <a:srgbClr val="3B4A63"/>
                </a:solidFill>
                <a:latin typeface="Calibri" pitchFamily="34" charset="0"/>
                <a:ea typeface="Calibri" pitchFamily="34" charset="-122"/>
                <a:cs typeface="Calibri" pitchFamily="34" charset="-120"/>
              </a:rPr>
              <a:t>fit các thế giới đánh giá độc lập</a:t>
            </a:r>
            <a:endParaRPr lang="en-US" sz="1200" dirty="0"/>
          </a:p>
        </p:txBody>
      </p:sp>
      <p:sp>
        <p:nvSpPr>
          <p:cNvPr id="22" name="Shape 20"/>
          <p:cNvSpPr/>
          <p:nvPr/>
        </p:nvSpPr>
        <p:spPr>
          <a:xfrm>
            <a:off x="6035040" y="2788920"/>
            <a:ext cx="2606040" cy="960120"/>
          </a:xfrm>
          <a:prstGeom prst="roundRect">
            <a:avLst>
              <a:gd name="adj" fmla="val 9524"/>
            </a:avLst>
          </a:prstGeom>
          <a:solidFill>
            <a:srgbClr val="FFFFFF"/>
          </a:solidFill>
          <a:ln w="19050">
            <a:solidFill>
              <a:srgbClr val="E4572E"/>
            </a:solidFill>
            <a:prstDash val="solid"/>
          </a:ln>
        </p:spPr>
      </p:sp>
      <p:sp>
        <p:nvSpPr>
          <p:cNvPr id="23" name="Text 21"/>
          <p:cNvSpPr txBox="1"/>
          <p:nvPr/>
        </p:nvSpPr>
        <p:spPr>
          <a:xfrm>
            <a:off x="6217920" y="2862072"/>
            <a:ext cx="22860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T · 20%</a:t>
            </a:r>
            <a:endParaRPr lang="en-US" sz="1600" dirty="0"/>
          </a:p>
        </p:txBody>
      </p:sp>
      <p:sp>
        <p:nvSpPr>
          <p:cNvPr id="24" name="Text 22"/>
          <p:cNvSpPr txBox="1"/>
          <p:nvPr/>
        </p:nvSpPr>
        <p:spPr>
          <a:xfrm>
            <a:off x="6217920" y="3218688"/>
            <a:ext cx="2286000" cy="457200"/>
          </a:xfrm>
          <a:prstGeom prst="rect">
            <a:avLst/>
          </a:prstGeom>
          <a:noFill/>
          <a:ln/>
        </p:spPr>
        <p:txBody>
          <a:bodyPr wrap="square" lIns="0" tIns="0" rIns="0" bIns="0" rtlCol="0" anchor="ctr"/>
          <a:lstStyle/>
          <a:p>
            <a:pPr indent="0" marL="0">
              <a:buNone/>
            </a:pPr>
            <a:r>
              <a:rPr lang="en-US" sz="1200" dirty="0">
                <a:solidFill>
                  <a:srgbClr val="3B4A63"/>
                </a:solidFill>
                <a:latin typeface="Calibri" pitchFamily="34" charset="0"/>
                <a:ea typeface="Calibri" pitchFamily="34" charset="-122"/>
                <a:cs typeface="Calibri" pitchFamily="34" charset="-120"/>
              </a:rPr>
              <a:t>926 người học kiểm tra</a:t>
            </a:r>
            <a:endParaRPr lang="en-US" sz="1200" dirty="0"/>
          </a:p>
        </p:txBody>
      </p:sp>
      <p:sp>
        <p:nvSpPr>
          <p:cNvPr id="25" name="Text 23"/>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Nhãn = AC ở lần nộp đầu; công sức = số lần nộp tới khi AC. 96 nhãn kiến thức gom thành 15 nhóm kỹ năng (mảng, con trỏ, vòng lặp, xâu, đệ quy…).</a:t>
            </a:r>
            <a:endParaRPr lang="en-US" sz="1250" dirty="0"/>
          </a:p>
        </p:txBody>
      </p:sp>
      <p:sp>
        <p:nvSpPr>
          <p:cNvPr id="26" name="Text 24"/>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300" b="1" dirty="0">
                <a:solidFill>
                  <a:srgbClr val="13213C"/>
                </a:solidFill>
                <a:latin typeface="Cambria" pitchFamily="34" charset="0"/>
                <a:ea typeface="Cambria" pitchFamily="34" charset="-122"/>
                <a:cs typeface="Cambria" pitchFamily="34" charset="-120"/>
              </a:rPr>
              <a:t>Mô hình nhận thức: sáu mô hình dự báo ngang nhau</a:t>
            </a:r>
            <a:endParaRPr lang="en-US" sz="23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Dự báo lần nộp đầu của 926 người học chưa thấy</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206240" cy="914400"/>
        </p:xfrm>
        <a:graphic>
          <a:graphicData uri="http://schemas.openxmlformats.org/drawingml/2006/table">
            <a:tbl>
              <a:tblPr/>
              <a:tblGrid>
                <a:gridCol w="2194560"/>
                <a:gridCol w="1005840"/>
                <a:gridCol w="10058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Mô hình</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13213C"/>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13213C"/>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NLL</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13213C"/>
                    </a:solidFill>
                  </a:tcPr>
                </a:tc>
              </a:tr>
              <a:tr h="329184">
                <a:tc>
                  <a:txBody>
                    <a:bodyPr/>
                    <a:lstStyle/>
                    <a:p>
                      <a:pPr indent="0" marL="0">
                        <a:buNone/>
                      </a:pPr>
                      <a:r>
                        <a:rPr lang="en-US" sz="1200" dirty="0">
                          <a:solidFill>
                            <a:srgbClr val="13213C"/>
                          </a:solidFill>
                          <a:latin typeface="Calibri" pitchFamily="34" charset="0"/>
                          <a:ea typeface="Calibri" pitchFamily="34" charset="-122"/>
                          <a:cs typeface="Calibri" pitchFamily="34" charset="-120"/>
                        </a:rPr>
                        <a:t>IRT (không học)</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0,775</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0,5667</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200" dirty="0">
                          <a:solidFill>
                            <a:srgbClr val="13213C"/>
                          </a:solidFill>
                          <a:latin typeface="Calibri" pitchFamily="34" charset="0"/>
                          <a:ea typeface="Calibri" pitchFamily="34" charset="-122"/>
                          <a:cs typeface="Calibri" pitchFamily="34" charset="-120"/>
                        </a:rPr>
                        <a:t>AFM</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0,776</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0,5657</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200" dirty="0">
                          <a:solidFill>
                            <a:srgbClr val="13213C"/>
                          </a:solidFill>
                          <a:latin typeface="Calibri" pitchFamily="34" charset="0"/>
                          <a:ea typeface="Calibri" pitchFamily="34" charset="-122"/>
                          <a:cs typeface="Calibri" pitchFamily="34" charset="-120"/>
                        </a:rPr>
                        <a:t>PFA</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0,776</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0,5655</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200" dirty="0">
                          <a:solidFill>
                            <a:srgbClr val="13213C"/>
                          </a:solidFill>
                          <a:latin typeface="Calibri" pitchFamily="34" charset="0"/>
                          <a:ea typeface="Calibri" pitchFamily="34" charset="-122"/>
                          <a:cs typeface="Calibri" pitchFamily="34" charset="-120"/>
                        </a:rPr>
                        <a:t>SAKT</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0,775</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0,5667</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200" b="1" dirty="0">
                          <a:solidFill>
                            <a:srgbClr val="13213C"/>
                          </a:solidFill>
                          <a:latin typeface="Calibri" pitchFamily="34" charset="0"/>
                          <a:ea typeface="Calibri" pitchFamily="34" charset="-122"/>
                          <a:cs typeface="Calibri" pitchFamily="34" charset="-120"/>
                        </a:rPr>
                        <a:t>DKT (tracker)</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0,775</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0,5669</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200" dirty="0">
                          <a:solidFill>
                            <a:srgbClr val="13213C"/>
                          </a:solidFill>
                          <a:latin typeface="Calibri" pitchFamily="34" charset="0"/>
                          <a:ea typeface="Calibri" pitchFamily="34" charset="-122"/>
                          <a:cs typeface="Calibri" pitchFamily="34" charset="-120"/>
                        </a:rPr>
                        <a:t>DKT song sinh</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0,775</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0,5672</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29184">
                <a:tc>
                  <a:txBody>
                    <a:bodyPr/>
                    <a:lstStyle/>
                    <a:p>
                      <a:pPr indent="0" marL="0">
                        <a:buNone/>
                      </a:pPr>
                      <a:r>
                        <a:rPr lang="en-US" sz="1200" dirty="0">
                          <a:solidFill>
                            <a:srgbClr val="13213C"/>
                          </a:solidFill>
                          <a:latin typeface="Calibri" pitchFamily="34" charset="0"/>
                          <a:ea typeface="Calibri" pitchFamily="34" charset="-122"/>
                          <a:cs typeface="Calibri" pitchFamily="34" charset="-120"/>
                        </a:rPr>
                        <a:t>Cây định danh ID3</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0,763</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200" dirty="0">
                          <a:solidFill>
                            <a:srgbClr val="13213C"/>
                          </a:solidFill>
                          <a:latin typeface="Calibri" pitchFamily="34" charset="0"/>
                          <a:ea typeface="Calibri" pitchFamily="34" charset="-122"/>
                          <a:cs typeface="Calibri" pitchFamily="34" charset="-120"/>
                        </a:rPr>
                        <a:t>0,5796</a:t>
                      </a:r>
                      <a:endParaRPr lang="en-US" sz="1200" dirty="0">
                        <a:latin typeface="Calibri" charset="0"/>
                        <a:ea typeface="Calibri" charset="0"/>
                        <a:cs typeface="Calibri" charset="0"/>
                      </a:endParaRPr>
                    </a:p>
                  </a:txBody>
                  <a:tcPr marL="91440" marR="91440" marT="45720" marB="45720">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bl>
          </a:graphicData>
        </a:graphic>
      </p:graphicFrame>
      <p:sp>
        <p:nvSpPr>
          <p:cNvPr id="5" name="Shape 2"/>
          <p:cNvSpPr/>
          <p:nvPr/>
        </p:nvSpPr>
        <p:spPr>
          <a:xfrm>
            <a:off x="4937760" y="1325880"/>
            <a:ext cx="3749040" cy="1234440"/>
          </a:xfrm>
          <a:prstGeom prst="roundRect">
            <a:avLst>
              <a:gd name="adj" fmla="val 8889"/>
            </a:avLst>
          </a:prstGeom>
          <a:solidFill>
            <a:srgbClr val="D7EFEE"/>
          </a:solidFill>
          <a:ln w="12700">
            <a:solidFill>
              <a:srgbClr val="D7EFEE"/>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5120640" y="1417320"/>
            <a:ext cx="3429000" cy="1051560"/>
          </a:xfrm>
          <a:prstGeom prst="rect">
            <a:avLst/>
          </a:prstGeom>
          <a:noFill/>
          <a:ln/>
        </p:spPr>
        <p:txBody>
          <a:bodyPr wrap="square" lIns="0" tIns="0" rIns="0" bIns="0" rtlCol="0" anchor="ctr"/>
          <a:lstStyle/>
          <a:p>
            <a:pPr indent="0" marL="0">
              <a:buNone/>
            </a:pPr>
            <a:r>
              <a:rPr lang="en-US" sz="1800" b="1" dirty="0">
                <a:solidFill>
                  <a:srgbClr val="0E7C7B"/>
                </a:solidFill>
                <a:latin typeface="Calibri" pitchFamily="34" charset="0"/>
                <a:ea typeface="Calibri" pitchFamily="34" charset="-122"/>
                <a:cs typeface="Calibri" pitchFamily="34" charset="-120"/>
              </a:rPr>
              <a:t>Chênh NLL ≤ 0,0017</a:t>
            </a:r>
            <a:endParaRPr lang="en-US" sz="1800" dirty="0"/>
          </a:p>
          <a:p>
            <a:pPr indent="0" marL="0">
              <a:buNone/>
            </a:pPr>
            <a:r>
              <a:rPr lang="en-US" sz="1250" dirty="0">
                <a:solidFill>
                  <a:srgbClr val="13213C"/>
                </a:solidFill>
                <a:latin typeface="Calibri" pitchFamily="34" charset="0"/>
                <a:ea typeface="Calibri" pitchFamily="34" charset="-122"/>
                <a:cs typeface="Calibri" pitchFamily="34" charset="-120"/>
              </a:rPr>
              <a:t>Chỉ nhìn độ chính xác dự báo thì không chọn được mô hình nào “đúng” để làm simulator.</a:t>
            </a:r>
            <a:endParaRPr lang="en-US" sz="1800" dirty="0"/>
          </a:p>
        </p:txBody>
      </p:sp>
      <p:sp>
        <p:nvSpPr>
          <p:cNvPr id="7" name="Shape 4"/>
          <p:cNvSpPr/>
          <p:nvPr/>
        </p:nvSpPr>
        <p:spPr>
          <a:xfrm>
            <a:off x="4937760" y="2743200"/>
            <a:ext cx="3749040" cy="1783080"/>
          </a:xfrm>
          <a:prstGeom prst="roundRect">
            <a:avLst>
              <a:gd name="adj" fmla="val 6154"/>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8" name="Text 5"/>
          <p:cNvSpPr txBox="1"/>
          <p:nvPr/>
        </p:nvSpPr>
        <p:spPr>
          <a:xfrm>
            <a:off x="5120640" y="2852928"/>
            <a:ext cx="3429000" cy="1600200"/>
          </a:xfrm>
          <a:prstGeom prst="rect">
            <a:avLst/>
          </a:prstGeom>
          <a:noFill/>
          <a:ln/>
        </p:spPr>
        <p:txBody>
          <a:bodyPr wrap="square" lIns="0" tIns="0" rIns="0" bIns="0" rtlCol="0" anchor="t"/>
          <a:lstStyle/>
          <a:p>
            <a:pPr indent="0" marL="0">
              <a:spcAft>
                <a:spcPts val="400"/>
              </a:spcAft>
              <a:buNone/>
            </a:pPr>
            <a:r>
              <a:rPr lang="en-US" sz="1250" b="1" dirty="0">
                <a:solidFill>
                  <a:srgbClr val="13213C"/>
                </a:solidFill>
                <a:latin typeface="Calibri" pitchFamily="34" charset="0"/>
                <a:ea typeface="Calibri" pitchFamily="34" charset="-122"/>
                <a:cs typeface="Calibri" pitchFamily="34" charset="-120"/>
              </a:rPr>
              <a:t>Luật từ cây định danh (entropy, đã rút gọn)</a:t>
            </a:r>
            <a:endParaRPr lang="en-US" sz="1250" dirty="0"/>
          </a:p>
          <a:p>
            <a:pPr indent="0" marL="0">
              <a:spcAft>
                <a:spcPts val="400"/>
              </a:spcAft>
              <a:buNone/>
            </a:pPr>
            <a:r>
              <a:rPr lang="en-US" sz="1150" dirty="0">
                <a:solidFill>
                  <a:srgbClr val="E4572E"/>
                </a:solidFill>
                <a:latin typeface="Calibri" pitchFamily="34" charset="0"/>
                <a:ea typeface="Calibri" pitchFamily="34" charset="-122"/>
                <a:cs typeface="Calibri" pitchFamily="34" charset="-120"/>
              </a:rPr>
              <a:t>NẾU tỷ lệ qua của bài &lt; 0,30 VÀ tỷ lệ đúng chung &lt; 0,40 VÀ kỹ năng = rẽ nhánh THÌ P(đúng) ≈ 0,09 (n=242)</a:t>
            </a:r>
            <a:endParaRPr lang="en-US" sz="1250" dirty="0"/>
          </a:p>
          <a:p>
            <a:pPr indent="0" marL="0">
              <a:spcAft>
                <a:spcPts val="400"/>
              </a:spcAft>
              <a:buNone/>
            </a:pPr>
            <a:r>
              <a:rPr lang="en-US" sz="1150" dirty="0">
                <a:solidFill>
                  <a:srgbClr val="0E7C7B"/>
                </a:solidFill>
                <a:latin typeface="Calibri" pitchFamily="34" charset="0"/>
                <a:ea typeface="Calibri" pitchFamily="34" charset="-122"/>
                <a:cs typeface="Calibri" pitchFamily="34" charset="-120"/>
              </a:rPr>
              <a:t>NẾU tỷ lệ qua của bài ≥ 0,75 VÀ tỷ lệ đúng chung ≥ 0,70 VÀ đúng 5 bài gần nhất 5/5 THÌ P(đúng) ≈ 0,92 (n=950)</a:t>
            </a:r>
            <a:endParaRPr lang="en-US" sz="1250" dirty="0"/>
          </a:p>
        </p:txBody>
      </p:sp>
      <p:sp>
        <p:nvSpPr>
          <p:cNvPr id="9" name="Text 6"/>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Bài toán quyết định và các tác tử</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Mỗi episode: 10 bài, bắt đầu từ lịch sử thật của một người học</a:t>
            </a:r>
            <a:endParaRPr lang="en-US" sz="1300" dirty="0"/>
          </a:p>
        </p:txBody>
      </p:sp>
      <p:sp>
        <p:nvSpPr>
          <p:cNvPr id="4" name="Shape 2"/>
          <p:cNvSpPr/>
          <p:nvPr/>
        </p:nvSpPr>
        <p:spPr>
          <a:xfrm>
            <a:off x="457200" y="1325880"/>
            <a:ext cx="2560320" cy="1417320"/>
          </a:xfrm>
          <a:prstGeom prst="roundRect">
            <a:avLst>
              <a:gd name="adj" fmla="val 7742"/>
            </a:avLst>
          </a:prstGeom>
          <a:solidFill>
            <a:srgbClr val="FFFFFF"/>
          </a:solidFill>
          <a:ln w="19050">
            <a:solidFill>
              <a:srgbClr val="0E7C7B"/>
            </a:solidFill>
            <a:prstDash val="solid"/>
          </a:ln>
        </p:spPr>
      </p:sp>
      <p:sp>
        <p:nvSpPr>
          <p:cNvPr id="5" name="Text 3"/>
          <p:cNvSpPr txBox="1"/>
          <p:nvPr/>
        </p:nvSpPr>
        <p:spPr>
          <a:xfrm>
            <a:off x="640080" y="1417320"/>
            <a:ext cx="2194560" cy="365760"/>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Trạng thái</a:t>
            </a:r>
            <a:endParaRPr lang="en-US" sz="1600" dirty="0"/>
          </a:p>
        </p:txBody>
      </p:sp>
      <p:sp>
        <p:nvSpPr>
          <p:cNvPr id="6" name="Text 4"/>
          <p:cNvSpPr txBox="1"/>
          <p:nvPr/>
        </p:nvSpPr>
        <p:spPr>
          <a:xfrm>
            <a:off x="640080" y="1801368"/>
            <a:ext cx="2240280" cy="868680"/>
          </a:xfrm>
          <a:prstGeom prst="rect">
            <a:avLst/>
          </a:prstGeom>
          <a:noFill/>
          <a:ln/>
        </p:spPr>
        <p:txBody>
          <a:bodyPr wrap="square" lIns="0" tIns="0" rIns="0" bIns="0" rtlCol="0" anchor="t"/>
          <a:lstStyle/>
          <a:p>
            <a:pPr indent="0" marL="0">
              <a:buNone/>
            </a:pPr>
            <a:r>
              <a:rPr lang="en-US" sz="1150" dirty="0">
                <a:solidFill>
                  <a:srgbClr val="3B4A63"/>
                </a:solidFill>
                <a:latin typeface="Calibri" pitchFamily="34" charset="0"/>
                <a:ea typeface="Calibri" pitchFamily="34" charset="-122"/>
                <a:cs typeface="Calibri" pitchFamily="34" charset="-120"/>
              </a:rPr>
              <a:t>Dự báo của DKT cho 109 bài + 10 kỹ năng + bài còn làm được + số bước còn lại</a:t>
            </a:r>
            <a:endParaRPr lang="en-US" sz="1150" dirty="0"/>
          </a:p>
        </p:txBody>
      </p:sp>
      <p:sp>
        <p:nvSpPr>
          <p:cNvPr id="7" name="Text 5"/>
          <p:cNvSpPr txBox="1"/>
          <p:nvPr/>
        </p:nvSpPr>
        <p:spPr>
          <a:xfrm>
            <a:off x="3017520" y="1783080"/>
            <a:ext cx="274320" cy="45720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291840" y="1325880"/>
            <a:ext cx="2560320" cy="1417320"/>
          </a:xfrm>
          <a:prstGeom prst="roundRect">
            <a:avLst>
              <a:gd name="adj" fmla="val 7742"/>
            </a:avLst>
          </a:prstGeom>
          <a:solidFill>
            <a:srgbClr val="FFFFFF"/>
          </a:solidFill>
          <a:ln w="19050">
            <a:solidFill>
              <a:srgbClr val="3B4A63"/>
            </a:solidFill>
            <a:prstDash val="solid"/>
          </a:ln>
        </p:spPr>
      </p:sp>
      <p:sp>
        <p:nvSpPr>
          <p:cNvPr id="9" name="Text 7"/>
          <p:cNvSpPr txBox="1"/>
          <p:nvPr/>
        </p:nvSpPr>
        <p:spPr>
          <a:xfrm>
            <a:off x="3474720" y="1417320"/>
            <a:ext cx="2194560" cy="365760"/>
          </a:xfrm>
          <a:prstGeom prst="rect">
            <a:avLst/>
          </a:prstGeom>
          <a:noFill/>
          <a:ln/>
        </p:spPr>
        <p:txBody>
          <a:bodyPr wrap="square" lIns="0" tIns="0" rIns="0" bIns="0" rtlCol="0" anchor="ctr"/>
          <a:lstStyle/>
          <a:p>
            <a:pPr indent="0" marL="0">
              <a:buNone/>
            </a:pPr>
            <a:r>
              <a:rPr lang="en-US" sz="1600" b="1" dirty="0">
                <a:solidFill>
                  <a:srgbClr val="3B4A63"/>
                </a:solidFill>
                <a:latin typeface="Cambria" pitchFamily="34" charset="0"/>
                <a:ea typeface="Cambria" pitchFamily="34" charset="-122"/>
                <a:cs typeface="Cambria" pitchFamily="34" charset="-120"/>
              </a:rPr>
              <a:t>Hành động</a:t>
            </a:r>
            <a:endParaRPr lang="en-US" sz="1600" dirty="0"/>
          </a:p>
        </p:txBody>
      </p:sp>
      <p:sp>
        <p:nvSpPr>
          <p:cNvPr id="10" name="Text 8"/>
          <p:cNvSpPr txBox="1"/>
          <p:nvPr/>
        </p:nvSpPr>
        <p:spPr>
          <a:xfrm>
            <a:off x="3474720" y="1801368"/>
            <a:ext cx="2240280" cy="868680"/>
          </a:xfrm>
          <a:prstGeom prst="rect">
            <a:avLst/>
          </a:prstGeom>
          <a:noFill/>
          <a:ln/>
        </p:spPr>
        <p:txBody>
          <a:bodyPr wrap="square" lIns="0" tIns="0" rIns="0" bIns="0" rtlCol="0" anchor="t"/>
          <a:lstStyle/>
          <a:p>
            <a:pPr indent="0" marL="0">
              <a:buNone/>
            </a:pPr>
            <a:r>
              <a:rPr lang="en-US" sz="1150" dirty="0">
                <a:solidFill>
                  <a:srgbClr val="3B4A63"/>
                </a:solidFill>
                <a:latin typeface="Calibri" pitchFamily="34" charset="0"/>
                <a:ea typeface="Calibri" pitchFamily="34" charset="-122"/>
                <a:cs typeface="Calibri" pitchFamily="34" charset="-120"/>
              </a:rPr>
              <a:t>Chọn 1 trong 109 bài chưa gặp (ngân hàng theo quy tắc cố định từ A)</a:t>
            </a:r>
            <a:endParaRPr lang="en-US" sz="1150" dirty="0"/>
          </a:p>
        </p:txBody>
      </p:sp>
      <p:sp>
        <p:nvSpPr>
          <p:cNvPr id="11" name="Text 9"/>
          <p:cNvSpPr txBox="1"/>
          <p:nvPr/>
        </p:nvSpPr>
        <p:spPr>
          <a:xfrm>
            <a:off x="5852160" y="1783080"/>
            <a:ext cx="274320" cy="45720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126480" y="1325880"/>
            <a:ext cx="2560320" cy="1417320"/>
          </a:xfrm>
          <a:prstGeom prst="roundRect">
            <a:avLst>
              <a:gd name="adj" fmla="val 7742"/>
            </a:avLst>
          </a:prstGeom>
          <a:solidFill>
            <a:srgbClr val="FFFFFF"/>
          </a:solidFill>
          <a:ln w="19050">
            <a:solidFill>
              <a:srgbClr val="E4572E"/>
            </a:solidFill>
            <a:prstDash val="solid"/>
          </a:ln>
        </p:spPr>
      </p:sp>
      <p:sp>
        <p:nvSpPr>
          <p:cNvPr id="13" name="Text 11"/>
          <p:cNvSpPr txBox="1"/>
          <p:nvPr/>
        </p:nvSpPr>
        <p:spPr>
          <a:xfrm>
            <a:off x="6309360" y="1417320"/>
            <a:ext cx="219456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Phần thưởng</a:t>
            </a:r>
            <a:endParaRPr lang="en-US" sz="1600" dirty="0"/>
          </a:p>
        </p:txBody>
      </p:sp>
      <p:sp>
        <p:nvSpPr>
          <p:cNvPr id="14" name="Text 12"/>
          <p:cNvSpPr txBox="1"/>
          <p:nvPr/>
        </p:nvSpPr>
        <p:spPr>
          <a:xfrm>
            <a:off x="6309360" y="1801368"/>
            <a:ext cx="2240280" cy="868680"/>
          </a:xfrm>
          <a:prstGeom prst="rect">
            <a:avLst/>
          </a:prstGeom>
          <a:noFill/>
          <a:ln/>
        </p:spPr>
        <p:txBody>
          <a:bodyPr wrap="square" lIns="0" tIns="0" rIns="0" bIns="0" rtlCol="0" anchor="t"/>
          <a:lstStyle/>
          <a:p>
            <a:pPr indent="0" marL="0">
              <a:buNone/>
            </a:pPr>
            <a:r>
              <a:rPr lang="en-US" sz="1150" dirty="0">
                <a:solidFill>
                  <a:srgbClr val="3B4A63"/>
                </a:solidFill>
                <a:latin typeface="Calibri" pitchFamily="34" charset="0"/>
                <a:ea typeface="Calibri" pitchFamily="34" charset="-122"/>
                <a:cs typeface="Calibri" pitchFamily="34" charset="-120"/>
              </a:rPr>
              <a:t>Δ bài kiểm tra sau (16 bài) − 0,05 điểm × số lần nộp thêm</a:t>
            </a:r>
            <a:endParaRPr lang="en-US" sz="1150" dirty="0"/>
          </a:p>
        </p:txBody>
      </p:sp>
      <p:sp>
        <p:nvSpPr>
          <p:cNvPr id="15" name="Shape 13"/>
          <p:cNvSpPr/>
          <p:nvPr/>
        </p:nvSpPr>
        <p:spPr>
          <a:xfrm>
            <a:off x="457200" y="2971800"/>
            <a:ext cx="4023360" cy="1600200"/>
          </a:xfrm>
          <a:prstGeom prst="roundRect">
            <a:avLst>
              <a:gd name="adj" fmla="val 6857"/>
            </a:avLst>
          </a:prstGeom>
          <a:solidFill>
            <a:srgbClr val="D7EFEE"/>
          </a:solidFill>
          <a:ln w="12700">
            <a:solidFill>
              <a:srgbClr val="D7EFEE"/>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640080" y="3063240"/>
            <a:ext cx="3657600" cy="1417320"/>
          </a:xfrm>
          <a:prstGeom prst="rect">
            <a:avLst/>
          </a:prstGeom>
          <a:noFill/>
          <a:ln/>
        </p:spPr>
        <p:txBody>
          <a:bodyPr wrap="square" lIns="0" tIns="0" rIns="0" bIns="0" rtlCol="0" anchor="t"/>
          <a:lstStyle/>
          <a:p>
            <a:pPr indent="0" marL="0">
              <a:buNone/>
            </a:pPr>
            <a:r>
              <a:rPr lang="en-US" sz="1250" b="1" dirty="0">
                <a:solidFill>
                  <a:srgbClr val="0E7C7B"/>
                </a:solidFill>
                <a:latin typeface="Calibri" pitchFamily="34" charset="0"/>
                <a:ea typeface="Calibri" pitchFamily="34" charset="-122"/>
                <a:cs typeface="Calibri" pitchFamily="34" charset="-120"/>
              </a:rPr>
              <a:t>Tác tử học (3 seed mỗi loại)</a:t>
            </a:r>
            <a:endParaRPr lang="en-US" sz="1250" dirty="0"/>
          </a:p>
          <a:p>
            <a:pPr indent="0" marL="0">
              <a:buNone/>
            </a:pPr>
            <a:r>
              <a:rPr lang="en-US" sz="1250" dirty="0">
                <a:solidFill>
                  <a:srgbClr val="13213C"/>
                </a:solidFill>
                <a:latin typeface="Calibri" pitchFamily="34" charset="0"/>
                <a:ea typeface="Calibri" pitchFamily="34" charset="-122"/>
                <a:cs typeface="Calibri" pitchFamily="34" charset="-120"/>
              </a:rPr>
              <a:t>Double DQN và PPO, huấn luyện trong 3 điều kiện:</a:t>
            </a:r>
            <a:endParaRPr lang="en-US" sz="1250" dirty="0"/>
          </a:p>
          <a:p>
            <a:pPr indent="0" marL="0">
              <a:buNone/>
            </a:pPr>
            <a:r>
              <a:rPr lang="en-US" sz="1250" dirty="0">
                <a:solidFill>
                  <a:srgbClr val="13213C"/>
                </a:solidFill>
                <a:latin typeface="Calibri" pitchFamily="34" charset="0"/>
                <a:ea typeface="Calibri" pitchFamily="34" charset="-122"/>
                <a:cs typeface="Calibri" pitchFamily="34" charset="-120"/>
              </a:rPr>
              <a:t>thưởng từ DKT (cách phổ biến) · thế giới AFM · trộn nhiều thế giới</a:t>
            </a:r>
            <a:endParaRPr lang="en-US" sz="1250" dirty="0"/>
          </a:p>
        </p:txBody>
      </p:sp>
      <p:sp>
        <p:nvSpPr>
          <p:cNvPr id="17" name="Shape 15"/>
          <p:cNvSpPr/>
          <p:nvPr/>
        </p:nvSpPr>
        <p:spPr>
          <a:xfrm>
            <a:off x="4663440" y="2971800"/>
            <a:ext cx="4023360" cy="1600200"/>
          </a:xfrm>
          <a:prstGeom prst="roundRect">
            <a:avLst>
              <a:gd name="adj" fmla="val 6857"/>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18" name="Text 16"/>
          <p:cNvSpPr txBox="1"/>
          <p:nvPr/>
        </p:nvSpPr>
        <p:spPr>
          <a:xfrm>
            <a:off x="4846320" y="3063240"/>
            <a:ext cx="3657600" cy="1417320"/>
          </a:xfrm>
          <a:prstGeom prst="rect">
            <a:avLst/>
          </a:prstGeom>
          <a:noFill/>
          <a:ln/>
        </p:spPr>
        <p:txBody>
          <a:bodyPr wrap="square" lIns="0" tIns="0" rIns="0" bIns="0" rtlCol="0" anchor="t"/>
          <a:lstStyle/>
          <a:p>
            <a:pPr indent="0" marL="0">
              <a:buNone/>
            </a:pPr>
            <a:r>
              <a:rPr lang="en-US" sz="1250" b="1" dirty="0">
                <a:solidFill>
                  <a:srgbClr val="13213C"/>
                </a:solidFill>
                <a:latin typeface="Calibri" pitchFamily="34" charset="0"/>
                <a:ea typeface="Calibri" pitchFamily="34" charset="-122"/>
                <a:cs typeface="Calibri" pitchFamily="34" charset="-120"/>
              </a:rPr>
              <a:t>8 quy tắc so sánh</a:t>
            </a:r>
            <a:endParaRPr lang="en-US" sz="1250" dirty="0"/>
          </a:p>
          <a:p>
            <a:pPr indent="0" marL="0">
              <a:buNone/>
            </a:pPr>
            <a:r>
              <a:rPr lang="en-US" sz="1250" dirty="0">
                <a:solidFill>
                  <a:srgbClr val="3B4A63"/>
                </a:solidFill>
                <a:latin typeface="Calibri" pitchFamily="34" charset="0"/>
                <a:ea typeface="Calibri" pitchFamily="34" charset="-122"/>
                <a:cs typeface="Calibri" pitchFamily="34" charset="-120"/>
              </a:rPr>
              <a:t>ngẫu nhiên · dễ→khó · kỹ năng yếu nhất · nhắm P(đúng)=0,5/0,7 · dễ nhất · khó nhất · tham lam theo DKT (như ExRec)</a:t>
            </a:r>
            <a:endParaRPr lang="en-US" sz="1250" dirty="0"/>
          </a:p>
        </p:txBody>
      </p:sp>
      <p:sp>
        <p:nvSpPr>
          <p:cNvPr id="19" name="Text 17"/>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300" b="1" dirty="0">
                <a:solidFill>
                  <a:srgbClr val="13213C"/>
                </a:solidFill>
                <a:latin typeface="Cambria" pitchFamily="34" charset="0"/>
                <a:ea typeface="Cambria" pitchFamily="34" charset="-122"/>
                <a:cs typeface="Cambria" pitchFamily="34" charset="-120"/>
              </a:rPr>
              <a:t>Đánh giá: 9 thế giới, trong đó có một “đối chứng âm”</a:t>
            </a:r>
            <a:endParaRPr lang="en-US" sz="23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Thế giới sinh phản hồi khác với mô hình mà tác tử dùng để chấm điểm</a:t>
            </a:r>
            <a:endParaRPr lang="en-US" sz="1300" dirty="0"/>
          </a:p>
        </p:txBody>
      </p:sp>
      <p:sp>
        <p:nvSpPr>
          <p:cNvPr id="4" name="Shape 2"/>
          <p:cNvSpPr/>
          <p:nvPr/>
        </p:nvSpPr>
        <p:spPr>
          <a:xfrm>
            <a:off x="457200" y="1280160"/>
            <a:ext cx="2606040" cy="868680"/>
          </a:xfrm>
          <a:prstGeom prst="roundRect">
            <a:avLst>
              <a:gd name="adj" fmla="val 10526"/>
            </a:avLst>
          </a:prstGeom>
          <a:solidFill>
            <a:srgbClr val="FFFFFF"/>
          </a:solidFill>
          <a:ln w="15875">
            <a:solidFill>
              <a:srgbClr val="3B4A63"/>
            </a:solidFill>
            <a:prstDash val="solid"/>
          </a:ln>
        </p:spPr>
      </p:sp>
      <p:sp>
        <p:nvSpPr>
          <p:cNvPr id="5" name="Text 3"/>
          <p:cNvSpPr txBox="1"/>
          <p:nvPr/>
        </p:nvSpPr>
        <p:spPr>
          <a:xfrm>
            <a:off x="621792" y="1353312"/>
            <a:ext cx="2286000" cy="347472"/>
          </a:xfrm>
          <a:prstGeom prst="rect">
            <a:avLst/>
          </a:prstGeom>
          <a:noFill/>
          <a:ln/>
        </p:spPr>
        <p:txBody>
          <a:bodyPr wrap="square" lIns="0" tIns="0" rIns="0" bIns="0" rtlCol="0" anchor="ctr"/>
          <a:lstStyle/>
          <a:p>
            <a:pPr indent="0" marL="0">
              <a:buNone/>
            </a:pPr>
            <a:r>
              <a:rPr lang="en-US" sz="1500" b="1" dirty="0">
                <a:solidFill>
                  <a:srgbClr val="3B4A63"/>
                </a:solidFill>
                <a:latin typeface="Cambria" pitchFamily="34" charset="0"/>
                <a:ea typeface="Cambria" pitchFamily="34" charset="-122"/>
                <a:cs typeface="Cambria" pitchFamily="34" charset="-120"/>
              </a:rPr>
              <a:t>DKT-A</a:t>
            </a:r>
            <a:endParaRPr lang="en-US" sz="1500" dirty="0"/>
          </a:p>
        </p:txBody>
      </p:sp>
      <p:sp>
        <p:nvSpPr>
          <p:cNvPr id="6" name="Text 4"/>
          <p:cNvSpPr txBox="1"/>
          <p:nvPr/>
        </p:nvSpPr>
        <p:spPr>
          <a:xfrm>
            <a:off x="621792" y="1719072"/>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thế giới huấn luyện</a:t>
            </a:r>
            <a:endParaRPr lang="en-US" sz="1150" dirty="0"/>
          </a:p>
        </p:txBody>
      </p:sp>
      <p:sp>
        <p:nvSpPr>
          <p:cNvPr id="7" name="Shape 5"/>
          <p:cNvSpPr/>
          <p:nvPr/>
        </p:nvSpPr>
        <p:spPr>
          <a:xfrm>
            <a:off x="3246120" y="1280160"/>
            <a:ext cx="2606040" cy="868680"/>
          </a:xfrm>
          <a:prstGeom prst="roundRect">
            <a:avLst>
              <a:gd name="adj" fmla="val 10526"/>
            </a:avLst>
          </a:prstGeom>
          <a:solidFill>
            <a:srgbClr val="FFFFFF"/>
          </a:solidFill>
          <a:ln w="15875">
            <a:solidFill>
              <a:srgbClr val="3B4A63"/>
            </a:solidFill>
            <a:prstDash val="solid"/>
          </a:ln>
        </p:spPr>
      </p:sp>
      <p:sp>
        <p:nvSpPr>
          <p:cNvPr id="8" name="Text 6"/>
          <p:cNvSpPr txBox="1"/>
          <p:nvPr/>
        </p:nvSpPr>
        <p:spPr>
          <a:xfrm>
            <a:off x="3410712" y="1353312"/>
            <a:ext cx="2286000" cy="347472"/>
          </a:xfrm>
          <a:prstGeom prst="rect">
            <a:avLst/>
          </a:prstGeom>
          <a:noFill/>
          <a:ln/>
        </p:spPr>
        <p:txBody>
          <a:bodyPr wrap="square" lIns="0" tIns="0" rIns="0" bIns="0" rtlCol="0" anchor="ctr"/>
          <a:lstStyle/>
          <a:p>
            <a:pPr indent="0" marL="0">
              <a:buNone/>
            </a:pPr>
            <a:r>
              <a:rPr lang="en-US" sz="1500" b="1" dirty="0">
                <a:solidFill>
                  <a:srgbClr val="3B4A63"/>
                </a:solidFill>
                <a:latin typeface="Cambria" pitchFamily="34" charset="0"/>
                <a:ea typeface="Cambria" pitchFamily="34" charset="-122"/>
                <a:cs typeface="Cambria" pitchFamily="34" charset="-120"/>
              </a:rPr>
              <a:t>AFM-A</a:t>
            </a:r>
            <a:endParaRPr lang="en-US" sz="1500" dirty="0"/>
          </a:p>
        </p:txBody>
      </p:sp>
      <p:sp>
        <p:nvSpPr>
          <p:cNvPr id="9" name="Text 7"/>
          <p:cNvSpPr txBox="1"/>
          <p:nvPr/>
        </p:nvSpPr>
        <p:spPr>
          <a:xfrm>
            <a:off x="3410712" y="1719072"/>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thế giới huấn luyện</a:t>
            </a:r>
            <a:endParaRPr lang="en-US" sz="1150" dirty="0"/>
          </a:p>
        </p:txBody>
      </p:sp>
      <p:sp>
        <p:nvSpPr>
          <p:cNvPr id="10" name="Shape 8"/>
          <p:cNvSpPr/>
          <p:nvPr/>
        </p:nvSpPr>
        <p:spPr>
          <a:xfrm>
            <a:off x="6035040" y="1280160"/>
            <a:ext cx="2606040" cy="868680"/>
          </a:xfrm>
          <a:prstGeom prst="roundRect">
            <a:avLst>
              <a:gd name="adj" fmla="val 10526"/>
            </a:avLst>
          </a:prstGeom>
          <a:solidFill>
            <a:srgbClr val="FFFFFF"/>
          </a:solidFill>
          <a:ln w="15875">
            <a:solidFill>
              <a:srgbClr val="3B4A63"/>
            </a:solidFill>
            <a:prstDash val="solid"/>
          </a:ln>
        </p:spPr>
      </p:sp>
      <p:sp>
        <p:nvSpPr>
          <p:cNvPr id="11" name="Text 9"/>
          <p:cNvSpPr txBox="1"/>
          <p:nvPr/>
        </p:nvSpPr>
        <p:spPr>
          <a:xfrm>
            <a:off x="6199632" y="1353312"/>
            <a:ext cx="2286000" cy="347472"/>
          </a:xfrm>
          <a:prstGeom prst="rect">
            <a:avLst/>
          </a:prstGeom>
          <a:noFill/>
          <a:ln/>
        </p:spPr>
        <p:txBody>
          <a:bodyPr wrap="square" lIns="0" tIns="0" rIns="0" bIns="0" rtlCol="0" anchor="ctr"/>
          <a:lstStyle/>
          <a:p>
            <a:pPr indent="0" marL="0">
              <a:buNone/>
            </a:pPr>
            <a:r>
              <a:rPr lang="en-US" sz="1500" b="1" dirty="0">
                <a:solidFill>
                  <a:srgbClr val="3B4A63"/>
                </a:solidFill>
                <a:latin typeface="Cambria" pitchFamily="34" charset="0"/>
                <a:ea typeface="Cambria" pitchFamily="34" charset="-122"/>
                <a:cs typeface="Cambria" pitchFamily="34" charset="-120"/>
              </a:rPr>
              <a:t>DKT-A song sinh</a:t>
            </a:r>
            <a:endParaRPr lang="en-US" sz="1500" dirty="0"/>
          </a:p>
        </p:txBody>
      </p:sp>
      <p:sp>
        <p:nvSpPr>
          <p:cNvPr id="12" name="Text 10"/>
          <p:cNvSpPr txBox="1"/>
          <p:nvPr/>
        </p:nvSpPr>
        <p:spPr>
          <a:xfrm>
            <a:off x="6199632" y="1719072"/>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cùng dữ liệu, khác seed</a:t>
            </a:r>
            <a:endParaRPr lang="en-US" sz="1150" dirty="0"/>
          </a:p>
        </p:txBody>
      </p:sp>
      <p:sp>
        <p:nvSpPr>
          <p:cNvPr id="13" name="Shape 11"/>
          <p:cNvSpPr/>
          <p:nvPr/>
        </p:nvSpPr>
        <p:spPr>
          <a:xfrm>
            <a:off x="457200" y="2304288"/>
            <a:ext cx="2606040" cy="868680"/>
          </a:xfrm>
          <a:prstGeom prst="roundRect">
            <a:avLst>
              <a:gd name="adj" fmla="val 10526"/>
            </a:avLst>
          </a:prstGeom>
          <a:solidFill>
            <a:srgbClr val="FFFFFF"/>
          </a:solidFill>
          <a:ln w="15875">
            <a:solidFill>
              <a:srgbClr val="0E7C7B"/>
            </a:solidFill>
            <a:prstDash val="solid"/>
          </a:ln>
        </p:spPr>
      </p:sp>
      <p:sp>
        <p:nvSpPr>
          <p:cNvPr id="14" name="Text 12"/>
          <p:cNvSpPr txBox="1"/>
          <p:nvPr/>
        </p:nvSpPr>
        <p:spPr>
          <a:xfrm>
            <a:off x="621792" y="2377440"/>
            <a:ext cx="2286000" cy="347472"/>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DKT-B</a:t>
            </a:r>
            <a:endParaRPr lang="en-US" sz="1500" dirty="0"/>
          </a:p>
        </p:txBody>
      </p:sp>
      <p:sp>
        <p:nvSpPr>
          <p:cNvPr id="15" name="Text 13"/>
          <p:cNvSpPr txBox="1"/>
          <p:nvPr/>
        </p:nvSpPr>
        <p:spPr>
          <a:xfrm>
            <a:off x="621792" y="2743200"/>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người học khác</a:t>
            </a:r>
            <a:endParaRPr lang="en-US" sz="1150" dirty="0"/>
          </a:p>
        </p:txBody>
      </p:sp>
      <p:sp>
        <p:nvSpPr>
          <p:cNvPr id="16" name="Shape 14"/>
          <p:cNvSpPr/>
          <p:nvPr/>
        </p:nvSpPr>
        <p:spPr>
          <a:xfrm>
            <a:off x="3246120" y="2304288"/>
            <a:ext cx="2606040" cy="868680"/>
          </a:xfrm>
          <a:prstGeom prst="roundRect">
            <a:avLst>
              <a:gd name="adj" fmla="val 10526"/>
            </a:avLst>
          </a:prstGeom>
          <a:solidFill>
            <a:srgbClr val="FFFFFF"/>
          </a:solidFill>
          <a:ln w="15875">
            <a:solidFill>
              <a:srgbClr val="0E7C7B"/>
            </a:solidFill>
            <a:prstDash val="solid"/>
          </a:ln>
        </p:spPr>
      </p:sp>
      <p:sp>
        <p:nvSpPr>
          <p:cNvPr id="17" name="Text 15"/>
          <p:cNvSpPr txBox="1"/>
          <p:nvPr/>
        </p:nvSpPr>
        <p:spPr>
          <a:xfrm>
            <a:off x="3410712" y="2377440"/>
            <a:ext cx="2286000" cy="347472"/>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SAKT-B</a:t>
            </a:r>
            <a:endParaRPr lang="en-US" sz="1500" dirty="0"/>
          </a:p>
        </p:txBody>
      </p:sp>
      <p:sp>
        <p:nvSpPr>
          <p:cNvPr id="18" name="Text 16"/>
          <p:cNvSpPr txBox="1"/>
          <p:nvPr/>
        </p:nvSpPr>
        <p:spPr>
          <a:xfrm>
            <a:off x="3410712" y="2743200"/>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kiến trúc khác</a:t>
            </a:r>
            <a:endParaRPr lang="en-US" sz="1150" dirty="0"/>
          </a:p>
        </p:txBody>
      </p:sp>
      <p:sp>
        <p:nvSpPr>
          <p:cNvPr id="19" name="Shape 17"/>
          <p:cNvSpPr/>
          <p:nvPr/>
        </p:nvSpPr>
        <p:spPr>
          <a:xfrm>
            <a:off x="6035040" y="2304288"/>
            <a:ext cx="2606040" cy="868680"/>
          </a:xfrm>
          <a:prstGeom prst="roundRect">
            <a:avLst>
              <a:gd name="adj" fmla="val 10526"/>
            </a:avLst>
          </a:prstGeom>
          <a:solidFill>
            <a:srgbClr val="FFFFFF"/>
          </a:solidFill>
          <a:ln w="15875">
            <a:solidFill>
              <a:srgbClr val="0E7C7B"/>
            </a:solidFill>
            <a:prstDash val="solid"/>
          </a:ln>
        </p:spPr>
      </p:sp>
      <p:sp>
        <p:nvSpPr>
          <p:cNvPr id="20" name="Text 18"/>
          <p:cNvSpPr txBox="1"/>
          <p:nvPr/>
        </p:nvSpPr>
        <p:spPr>
          <a:xfrm>
            <a:off x="6199632" y="2377440"/>
            <a:ext cx="2286000" cy="347472"/>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AFM-B</a:t>
            </a:r>
            <a:endParaRPr lang="en-US" sz="1500" dirty="0"/>
          </a:p>
        </p:txBody>
      </p:sp>
      <p:sp>
        <p:nvSpPr>
          <p:cNvPr id="21" name="Text 19"/>
          <p:cNvSpPr txBox="1"/>
          <p:nvPr/>
        </p:nvSpPr>
        <p:spPr>
          <a:xfrm>
            <a:off x="6199632" y="2743200"/>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học theo số lần luyện</a:t>
            </a:r>
            <a:endParaRPr lang="en-US" sz="1150" dirty="0"/>
          </a:p>
        </p:txBody>
      </p:sp>
      <p:sp>
        <p:nvSpPr>
          <p:cNvPr id="22" name="Shape 20"/>
          <p:cNvSpPr/>
          <p:nvPr/>
        </p:nvSpPr>
        <p:spPr>
          <a:xfrm>
            <a:off x="457200" y="3328416"/>
            <a:ext cx="2606040" cy="868680"/>
          </a:xfrm>
          <a:prstGeom prst="roundRect">
            <a:avLst>
              <a:gd name="adj" fmla="val 10526"/>
            </a:avLst>
          </a:prstGeom>
          <a:solidFill>
            <a:srgbClr val="FFFFFF"/>
          </a:solidFill>
          <a:ln w="15875">
            <a:solidFill>
              <a:srgbClr val="0E7C7B"/>
            </a:solidFill>
            <a:prstDash val="solid"/>
          </a:ln>
        </p:spPr>
      </p:sp>
      <p:sp>
        <p:nvSpPr>
          <p:cNvPr id="23" name="Text 21"/>
          <p:cNvSpPr txBox="1"/>
          <p:nvPr/>
        </p:nvSpPr>
        <p:spPr>
          <a:xfrm>
            <a:off x="621792" y="3401568"/>
            <a:ext cx="2286000" cy="347472"/>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PFA-B</a:t>
            </a:r>
            <a:endParaRPr lang="en-US" sz="1500" dirty="0"/>
          </a:p>
        </p:txBody>
      </p:sp>
      <p:sp>
        <p:nvSpPr>
          <p:cNvPr id="24" name="Text 22"/>
          <p:cNvSpPr txBox="1"/>
          <p:nvPr/>
        </p:nvSpPr>
        <p:spPr>
          <a:xfrm>
            <a:off x="621792" y="3767328"/>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học theo đúng/sai</a:t>
            </a:r>
            <a:endParaRPr lang="en-US" sz="1150" dirty="0"/>
          </a:p>
        </p:txBody>
      </p:sp>
      <p:sp>
        <p:nvSpPr>
          <p:cNvPr id="25" name="Shape 23"/>
          <p:cNvSpPr/>
          <p:nvPr/>
        </p:nvSpPr>
        <p:spPr>
          <a:xfrm>
            <a:off x="3246120" y="3328416"/>
            <a:ext cx="2606040" cy="868680"/>
          </a:xfrm>
          <a:prstGeom prst="roundRect">
            <a:avLst>
              <a:gd name="adj" fmla="val 10526"/>
            </a:avLst>
          </a:prstGeom>
          <a:solidFill>
            <a:srgbClr val="FFFFFF"/>
          </a:solidFill>
          <a:ln w="15875">
            <a:solidFill>
              <a:srgbClr val="0E7C7B"/>
            </a:solidFill>
            <a:prstDash val="solid"/>
          </a:ln>
        </p:spPr>
      </p:sp>
      <p:sp>
        <p:nvSpPr>
          <p:cNvPr id="26" name="Text 24"/>
          <p:cNvSpPr txBox="1"/>
          <p:nvPr/>
        </p:nvSpPr>
        <p:spPr>
          <a:xfrm>
            <a:off x="3410712" y="3401568"/>
            <a:ext cx="2286000" cy="347472"/>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ZPD-B</a:t>
            </a:r>
            <a:endParaRPr lang="en-US" sz="1500" dirty="0"/>
          </a:p>
        </p:txBody>
      </p:sp>
      <p:sp>
        <p:nvSpPr>
          <p:cNvPr id="27" name="Text 25"/>
          <p:cNvSpPr txBox="1"/>
          <p:nvPr/>
        </p:nvSpPr>
        <p:spPr>
          <a:xfrm>
            <a:off x="3410712" y="3767328"/>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giả định vùng phát triển</a:t>
            </a:r>
            <a:endParaRPr lang="en-US" sz="1150" dirty="0"/>
          </a:p>
        </p:txBody>
      </p:sp>
      <p:sp>
        <p:nvSpPr>
          <p:cNvPr id="28" name="Shape 26"/>
          <p:cNvSpPr/>
          <p:nvPr/>
        </p:nvSpPr>
        <p:spPr>
          <a:xfrm>
            <a:off x="6035040" y="3328416"/>
            <a:ext cx="2606040" cy="868680"/>
          </a:xfrm>
          <a:prstGeom prst="roundRect">
            <a:avLst>
              <a:gd name="adj" fmla="val 10526"/>
            </a:avLst>
          </a:prstGeom>
          <a:solidFill>
            <a:srgbClr val="FCE3DA"/>
          </a:solidFill>
          <a:ln w="15875">
            <a:solidFill>
              <a:srgbClr val="E4572E"/>
            </a:solidFill>
            <a:prstDash val="solid"/>
          </a:ln>
        </p:spPr>
      </p:sp>
      <p:sp>
        <p:nvSpPr>
          <p:cNvPr id="29" name="Text 27"/>
          <p:cNvSpPr txBox="1"/>
          <p:nvPr/>
        </p:nvSpPr>
        <p:spPr>
          <a:xfrm>
            <a:off x="6199632" y="3401568"/>
            <a:ext cx="2286000" cy="347472"/>
          </a:xfrm>
          <a:prstGeom prst="rect">
            <a:avLst/>
          </a:prstGeom>
          <a:noFill/>
          <a:ln/>
        </p:spPr>
        <p:txBody>
          <a:bodyPr wrap="square" lIns="0" tIns="0" rIns="0" bIns="0" rtlCol="0" anchor="ctr"/>
          <a:lstStyle/>
          <a:p>
            <a:pPr indent="0" marL="0">
              <a:buNone/>
            </a:pPr>
            <a:r>
              <a:rPr lang="en-US" sz="1500" b="1" dirty="0">
                <a:solidFill>
                  <a:srgbClr val="E4572E"/>
                </a:solidFill>
                <a:latin typeface="Cambria" pitchFamily="34" charset="0"/>
                <a:ea typeface="Cambria" pitchFamily="34" charset="-122"/>
                <a:cs typeface="Cambria" pitchFamily="34" charset="-120"/>
              </a:rPr>
              <a:t>IRT-B</a:t>
            </a:r>
            <a:endParaRPr lang="en-US" sz="1500" dirty="0"/>
          </a:p>
        </p:txBody>
      </p:sp>
      <p:sp>
        <p:nvSpPr>
          <p:cNvPr id="30" name="Text 28"/>
          <p:cNvSpPr txBox="1"/>
          <p:nvPr/>
        </p:nvSpPr>
        <p:spPr>
          <a:xfrm>
            <a:off x="6199632" y="3767328"/>
            <a:ext cx="2286000" cy="347472"/>
          </a:xfrm>
          <a:prstGeom prst="rect">
            <a:avLst/>
          </a:prstGeom>
          <a:noFill/>
          <a:ln/>
        </p:spPr>
        <p:txBody>
          <a:bodyPr wrap="square" lIns="0" tIns="0" rIns="0" bIns="0" rtlCol="0" anchor="ctr"/>
          <a:lstStyle/>
          <a:p>
            <a:pPr indent="0" marL="0">
              <a:buNone/>
            </a:pPr>
            <a:r>
              <a:rPr lang="en-US" sz="1150" dirty="0">
                <a:solidFill>
                  <a:srgbClr val="3B4A63"/>
                </a:solidFill>
                <a:latin typeface="Calibri" pitchFamily="34" charset="0"/>
                <a:ea typeface="Calibri" pitchFamily="34" charset="-122"/>
                <a:cs typeface="Calibri" pitchFamily="34" charset="-120"/>
              </a:rPr>
              <a:t>KHÔNG có học: tiến bộ thật = 0</a:t>
            </a:r>
            <a:endParaRPr lang="en-US" sz="1150" dirty="0"/>
          </a:p>
        </p:txBody>
      </p:sp>
      <p:sp>
        <p:nvSpPr>
          <p:cNvPr id="31" name="Text 29"/>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Mọi chính sách chạy trên cùng 926 episode bắt đầu từ người học kiểm tra; ghi cả tiến bộ theo thế giới và tiến bộ mà tracker DKT tự báo.</a:t>
            </a:r>
            <a:endParaRPr lang="en-US" sz="1150" dirty="0"/>
          </a:p>
        </p:txBody>
      </p:sp>
      <p:sp>
        <p:nvSpPr>
          <p:cNvPr id="32" name="Text 30"/>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300" b="1" dirty="0">
                <a:solidFill>
                  <a:srgbClr val="13213C"/>
                </a:solidFill>
                <a:latin typeface="Cambria" pitchFamily="34" charset="0"/>
                <a:ea typeface="Cambria" pitchFamily="34" charset="-122"/>
                <a:cs typeface="Cambria" pitchFamily="34" charset="-120"/>
              </a:rPr>
              <a:t>H1: thắng lớn “tại nhà”, gần 0 ở thế giới độc lập</a:t>
            </a:r>
            <a:endParaRPr lang="en-US" sz="23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Mức hơn chọn ngẫu nhiên (điểm phần trăm bài kiểm tra) — H1 được xác nhận</a:t>
            </a:r>
            <a:endParaRPr lang="en-US" sz="1300" dirty="0"/>
          </a:p>
        </p:txBody>
      </p:sp>
      <p:graphicFrame>
        <p:nvGraphicFramePr>
          <p:cNvPr id="4" name="Chart 0" descr=""/>
          <p:cNvGraphicFramePr/>
          <p:nvPr/>
        </p:nvGraphicFramePr>
        <p:xfrm>
          <a:off x="457200" y="1234440"/>
          <a:ext cx="5577840" cy="3429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1325880"/>
            <a:ext cx="2423160" cy="3246120"/>
          </a:xfrm>
          <a:prstGeom prst="roundRect">
            <a:avLst>
              <a:gd name="adj" fmla="val 4528"/>
            </a:avLst>
          </a:prstGeom>
          <a:solidFill>
            <a:srgbClr val="FCE3DA"/>
          </a:solidFill>
          <a:ln w="12700">
            <a:solidFill>
              <a:srgbClr val="FCE3DA"/>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6446520" y="1463040"/>
            <a:ext cx="2103120" cy="2971800"/>
          </a:xfrm>
          <a:prstGeom prst="rect">
            <a:avLst/>
          </a:prstGeom>
          <a:noFill/>
          <a:ln/>
        </p:spPr>
        <p:txBody>
          <a:bodyPr wrap="square" lIns="0" tIns="0" rIns="0" bIns="0" rtlCol="0" anchor="t"/>
          <a:lstStyle/>
          <a:p>
            <a:pPr indent="0" marL="0">
              <a:buNone/>
            </a:pPr>
            <a:r>
              <a:rPr lang="en-US" sz="3000" b="1" dirty="0">
                <a:solidFill>
                  <a:srgbClr val="E4572E"/>
                </a:solidFill>
                <a:latin typeface="Cambria" pitchFamily="34" charset="0"/>
                <a:ea typeface="Cambria" pitchFamily="34" charset="-122"/>
                <a:cs typeface="Cambria" pitchFamily="34" charset="-120"/>
              </a:rPr>
              <a:t>+27,2</a:t>
            </a:r>
            <a:endParaRPr lang="en-US" sz="3000" dirty="0"/>
          </a:p>
          <a:p>
            <a:pPr indent="0" marL="0">
              <a:buNone/>
            </a:pPr>
            <a:r>
              <a:rPr lang="en-US" sz="1200" dirty="0">
                <a:solidFill>
                  <a:srgbClr val="13213C"/>
                </a:solidFill>
                <a:latin typeface="Calibri" pitchFamily="34" charset="0"/>
                <a:ea typeface="Calibri" pitchFamily="34" charset="-122"/>
                <a:cs typeface="Calibri" pitchFamily="34" charset="-120"/>
              </a:rPr>
              <a:t>PPO trong simulator huấn luyện</a:t>
            </a:r>
            <a:endParaRPr lang="en-US" sz="30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3000" dirty="0"/>
          </a:p>
          <a:p>
            <a:pPr indent="0" marL="0">
              <a:buNone/>
            </a:pPr>
            <a:r>
              <a:rPr lang="en-US" sz="3000" b="1" dirty="0">
                <a:solidFill>
                  <a:srgbClr val="0E7C7B"/>
                </a:solidFill>
                <a:latin typeface="Cambria" pitchFamily="34" charset="0"/>
                <a:ea typeface="Cambria" pitchFamily="34" charset="-122"/>
                <a:cs typeface="Cambria" pitchFamily="34" charset="-120"/>
              </a:rPr>
              <a:t>+0,34</a:t>
            </a:r>
            <a:endParaRPr lang="en-US" sz="3000" dirty="0"/>
          </a:p>
          <a:p>
            <a:pPr indent="0" marL="0">
              <a:buNone/>
            </a:pPr>
            <a:r>
              <a:rPr lang="en-US" sz="1200" dirty="0">
                <a:solidFill>
                  <a:srgbClr val="13213C"/>
                </a:solidFill>
                <a:latin typeface="Calibri" pitchFamily="34" charset="0"/>
                <a:ea typeface="Calibri" pitchFamily="34" charset="-122"/>
                <a:cs typeface="Calibri" pitchFamily="34" charset="-120"/>
              </a:rPr>
              <a:t>cao nhất ở AFM-B / PFA-B / ZPD-B</a:t>
            </a:r>
            <a:endParaRPr lang="en-US" sz="3000" dirty="0"/>
          </a:p>
        </p:txBody>
      </p:sp>
      <p:sp>
        <p:nvSpPr>
          <p:cNvPr id="7" name="Text 4"/>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H2–H3: “tiến bộ ảo” khi không hề có học</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Thế giới IRT-B: tiến bộ thật của mọi chính sách = 0 — H2 và H3 được xác nhận</a:t>
            </a:r>
            <a:endParaRPr lang="en-US" sz="1300" dirty="0"/>
          </a:p>
        </p:txBody>
      </p:sp>
      <p:graphicFrame>
        <p:nvGraphicFramePr>
          <p:cNvPr id="4" name="Chart 0" descr=""/>
          <p:cNvGraphicFramePr/>
          <p:nvPr/>
        </p:nvGraphicFramePr>
        <p:xfrm>
          <a:off x="457200" y="123444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80760" y="1325880"/>
            <a:ext cx="2606040" cy="1463040"/>
          </a:xfrm>
          <a:prstGeom prst="roundRect">
            <a:avLst>
              <a:gd name="adj" fmla="val 7500"/>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6263640" y="1417320"/>
            <a:ext cx="2286000" cy="12801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Tiến bộ thật: 0,00</a:t>
            </a:r>
            <a:endParaRPr lang="en-US" sz="1600" dirty="0"/>
          </a:p>
          <a:p>
            <a:pPr indent="0" marL="0">
              <a:buNone/>
            </a:pPr>
            <a:r>
              <a:rPr lang="en-US" sz="1200" dirty="0">
                <a:solidFill>
                  <a:srgbClr val="3B4A63"/>
                </a:solidFill>
                <a:latin typeface="Calibri" pitchFamily="34" charset="0"/>
                <a:ea typeface="Calibri" pitchFamily="34" charset="-122"/>
                <a:cs typeface="Calibri" pitchFamily="34" charset="-120"/>
              </a:rPr>
              <a:t>Thế giới không có tham số học — theo định nghĩa không ai tiến bộ.</a:t>
            </a:r>
            <a:endParaRPr lang="en-US" sz="1600" dirty="0"/>
          </a:p>
        </p:txBody>
      </p:sp>
      <p:sp>
        <p:nvSpPr>
          <p:cNvPr id="7" name="Shape 4"/>
          <p:cNvSpPr/>
          <p:nvPr/>
        </p:nvSpPr>
        <p:spPr>
          <a:xfrm>
            <a:off x="6080760" y="2971800"/>
            <a:ext cx="2606040" cy="1600200"/>
          </a:xfrm>
          <a:prstGeom prst="roundRect">
            <a:avLst>
              <a:gd name="adj" fmla="val 6857"/>
            </a:avLst>
          </a:prstGeom>
          <a:solidFill>
            <a:srgbClr val="FCE3DA"/>
          </a:solidFill>
          <a:ln w="12700">
            <a:solidFill>
              <a:srgbClr val="FCE3DA"/>
            </a:solidFill>
            <a:prstDash val="solid"/>
          </a:ln>
          <a:effectLst>
            <a:outerShdw sx="100000" sy="100000" kx="0" ky="0" algn="bl" rotWithShape="0" blurRad="76200" dist="25400" dir="5400000">
              <a:srgbClr val="000000">
                <a:alpha val="8000"/>
              </a:srgbClr>
            </a:outerShdw>
          </a:effectLst>
        </p:spPr>
      </p:sp>
      <p:sp>
        <p:nvSpPr>
          <p:cNvPr id="8" name="Text 5"/>
          <p:cNvSpPr txBox="1"/>
          <p:nvPr/>
        </p:nvSpPr>
        <p:spPr>
          <a:xfrm>
            <a:off x="6263640" y="3063240"/>
            <a:ext cx="2286000" cy="1417320"/>
          </a:xfrm>
          <a:prstGeom prst="rect">
            <a:avLst/>
          </a:prstGeom>
          <a:noFill/>
          <a:ln/>
        </p:spPr>
        <p:txBody>
          <a:bodyPr wrap="square" lIns="0" tIns="0" rIns="0" bIns="0" rtlCol="0" anchor="t"/>
          <a:lstStyle/>
          <a:p>
            <a:pPr indent="0" marL="0">
              <a:buNone/>
            </a:pPr>
            <a:r>
              <a:rPr lang="en-US" sz="2800" b="1" dirty="0">
                <a:solidFill>
                  <a:srgbClr val="E4572E"/>
                </a:solidFill>
                <a:latin typeface="Cambria" pitchFamily="34" charset="0"/>
                <a:ea typeface="Cambria" pitchFamily="34" charset="-122"/>
                <a:cs typeface="Cambria" pitchFamily="34" charset="-120"/>
              </a:rPr>
              <a:t>ρ = 0,96</a:t>
            </a:r>
            <a:endParaRPr lang="en-US" sz="2800" dirty="0"/>
          </a:p>
          <a:p>
            <a:pPr indent="0" marL="0">
              <a:buNone/>
            </a:pPr>
            <a:r>
              <a:rPr lang="en-US" sz="1200" dirty="0">
                <a:solidFill>
                  <a:srgbClr val="13213C"/>
                </a:solidFill>
                <a:latin typeface="Calibri" pitchFamily="34" charset="0"/>
                <a:ea typeface="Calibri" pitchFamily="34" charset="-122"/>
                <a:cs typeface="Calibri" pitchFamily="34" charset="-120"/>
              </a:rPr>
              <a:t>tương quan hạng giữa tiến bộ “tại nhà” và tiến bộ ảo trên 14 chính sách</a:t>
            </a:r>
            <a:endParaRPr lang="en-US" sz="2800" dirty="0"/>
          </a:p>
        </p:txBody>
      </p:sp>
      <p:sp>
        <p:nvSpPr>
          <p:cNvPr id="9" name="Text 6"/>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Vì sao? DKT “tin” vào mức học rất khác nhau</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Độ trôi = thay đổi dự báo mà chính mô hình kỳ vọng sau một lần luyện — H4 được xác nhận</a:t>
            </a:r>
            <a:endParaRPr lang="en-US" sz="1300" dirty="0"/>
          </a:p>
        </p:txBody>
      </p:sp>
      <p:graphicFrame>
        <p:nvGraphicFramePr>
          <p:cNvPr id="4" name="Chart 0" descr=""/>
          <p:cNvGraphicFramePr/>
          <p:nvPr/>
        </p:nvGraphicFramePr>
        <p:xfrm>
          <a:off x="457200" y="123444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23560" y="1234440"/>
            <a:ext cx="3063240" cy="1024128"/>
          </a:xfrm>
          <a:prstGeom prst="roundRect">
            <a:avLst>
              <a:gd name="adj" fmla="val 10714"/>
            </a:avLst>
          </a:prstGeom>
          <a:solidFill>
            <a:srgbClr val="D7EFEE"/>
          </a:solidFill>
          <a:ln w="12700">
            <a:solidFill>
              <a:srgbClr val="D7EFEE"/>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5760720" y="1298448"/>
            <a:ext cx="2788920" cy="914400"/>
          </a:xfrm>
          <a:prstGeom prst="rect">
            <a:avLst/>
          </a:prstGeom>
          <a:noFill/>
          <a:ln/>
        </p:spPr>
        <p:txBody>
          <a:bodyPr wrap="square" lIns="0" tIns="0" rIns="0" bIns="0" rtlCol="0" anchor="t"/>
          <a:lstStyle/>
          <a:p>
            <a:pPr indent="0" marL="0">
              <a:buNone/>
            </a:pPr>
            <a:r>
              <a:rPr lang="en-US" sz="1250" b="1" dirty="0">
                <a:solidFill>
                  <a:srgbClr val="13213C"/>
                </a:solidFill>
                <a:latin typeface="Calibri" pitchFamily="34" charset="0"/>
                <a:ea typeface="Calibri" pitchFamily="34" charset="-122"/>
                <a:cs typeface="Calibri" pitchFamily="34" charset="-120"/>
              </a:rPr>
              <a:t>Tracker báo = trôi + bất ngờ</a:t>
            </a:r>
            <a:endParaRPr lang="en-US" sz="1250" dirty="0"/>
          </a:p>
          <a:p>
            <a:pPr indent="0" marL="0">
              <a:buNone/>
            </a:pPr>
            <a:r>
              <a:rPr lang="en-US" sz="1100" dirty="0">
                <a:solidFill>
                  <a:srgbClr val="3B4A63"/>
                </a:solidFill>
                <a:latin typeface="Calibri" pitchFamily="34" charset="0"/>
                <a:ea typeface="Calibri" pitchFamily="34" charset="-122"/>
                <a:cs typeface="Calibri" pitchFamily="34" charset="-120"/>
              </a:rPr>
              <a:t>Mô hình không-học đúng nghĩa (IRT) có độ trôi bằng 0 tuyệt đối — kiểm chứng bằng toán và bằng test.</a:t>
            </a:r>
            <a:endParaRPr lang="en-US" sz="1250" dirty="0"/>
          </a:p>
        </p:txBody>
      </p:sp>
      <p:sp>
        <p:nvSpPr>
          <p:cNvPr id="7" name="Shape 4"/>
          <p:cNvSpPr/>
          <p:nvPr/>
        </p:nvSpPr>
        <p:spPr>
          <a:xfrm>
            <a:off x="5623560" y="2377440"/>
            <a:ext cx="3063240" cy="1024128"/>
          </a:xfrm>
          <a:prstGeom prst="roundRect">
            <a:avLst>
              <a:gd name="adj" fmla="val 10714"/>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8" name="Text 5"/>
          <p:cNvSpPr txBox="1"/>
          <p:nvPr/>
        </p:nvSpPr>
        <p:spPr>
          <a:xfrm>
            <a:off x="5760720" y="2441448"/>
            <a:ext cx="2788920" cy="914400"/>
          </a:xfrm>
          <a:prstGeom prst="rect">
            <a:avLst/>
          </a:prstGeom>
          <a:noFill/>
          <a:ln/>
        </p:spPr>
        <p:txBody>
          <a:bodyPr wrap="square" lIns="0" tIns="0" rIns="0" bIns="0" rtlCol="0" anchor="t"/>
          <a:lstStyle/>
          <a:p>
            <a:pPr indent="0" marL="0">
              <a:buNone/>
            </a:pPr>
            <a:r>
              <a:rPr lang="en-US" sz="1250" b="1" dirty="0">
                <a:solidFill>
                  <a:srgbClr val="13213C"/>
                </a:solidFill>
                <a:latin typeface="Calibri" pitchFamily="34" charset="0"/>
                <a:ea typeface="Calibri" pitchFamily="34" charset="-122"/>
                <a:cs typeface="Calibri" pitchFamily="34" charset="-120"/>
              </a:rPr>
              <a:t>Hai DKT khác seed: ρ = 0,35</a:t>
            </a:r>
            <a:endParaRPr lang="en-US" sz="1250" dirty="0"/>
          </a:p>
          <a:p>
            <a:pPr indent="0" marL="0">
              <a:buNone/>
            </a:pPr>
            <a:r>
              <a:rPr lang="en-US" sz="1100" dirty="0">
                <a:solidFill>
                  <a:srgbClr val="3B4A63"/>
                </a:solidFill>
                <a:latin typeface="Calibri" pitchFamily="34" charset="0"/>
                <a:ea typeface="Calibri" pitchFamily="34" charset="-122"/>
                <a:cs typeface="Calibri" pitchFamily="34" charset="-120"/>
              </a:rPr>
              <a:t>Dự báo ngang nhau nhưng bất đồng về việc bài nào “dạy”.</a:t>
            </a:r>
            <a:endParaRPr lang="en-US" sz="1250" dirty="0"/>
          </a:p>
        </p:txBody>
      </p:sp>
      <p:sp>
        <p:nvSpPr>
          <p:cNvPr id="9" name="Shape 6"/>
          <p:cNvSpPr/>
          <p:nvPr/>
        </p:nvSpPr>
        <p:spPr>
          <a:xfrm>
            <a:off x="5623560" y="3520440"/>
            <a:ext cx="3063240" cy="1024128"/>
          </a:xfrm>
          <a:prstGeom prst="roundRect">
            <a:avLst>
              <a:gd name="adj" fmla="val 10714"/>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5760720" y="3584448"/>
            <a:ext cx="2788920" cy="914400"/>
          </a:xfrm>
          <a:prstGeom prst="rect">
            <a:avLst/>
          </a:prstGeom>
          <a:noFill/>
          <a:ln/>
        </p:spPr>
        <p:txBody>
          <a:bodyPr wrap="square" lIns="0" tIns="0" rIns="0" bIns="0" rtlCol="0" anchor="t"/>
          <a:lstStyle/>
          <a:p>
            <a:pPr indent="0" marL="0">
              <a:buNone/>
            </a:pPr>
            <a:r>
              <a:rPr lang="en-US" sz="1250" b="1" dirty="0">
                <a:solidFill>
                  <a:srgbClr val="13213C"/>
                </a:solidFill>
                <a:latin typeface="Calibri" pitchFamily="34" charset="0"/>
                <a:ea typeface="Calibri" pitchFamily="34" charset="-122"/>
                <a:cs typeface="Calibri" pitchFamily="34" charset="-120"/>
              </a:rPr>
              <a:t>Quỹ đạo thật: |Δ| 9,4 so với 2,4 (IRT)</a:t>
            </a:r>
            <a:endParaRPr lang="en-US" sz="1250" dirty="0"/>
          </a:p>
          <a:p>
            <a:pPr indent="0" marL="0">
              <a:buNone/>
            </a:pPr>
            <a:r>
              <a:rPr lang="en-US" sz="1100" dirty="0">
                <a:solidFill>
                  <a:srgbClr val="3B4A63"/>
                </a:solidFill>
                <a:latin typeface="Calibri" pitchFamily="34" charset="0"/>
                <a:ea typeface="Calibri" pitchFamily="34" charset="-122"/>
                <a:cs typeface="Calibri" pitchFamily="34" charset="-120"/>
              </a:rPr>
              <a:t>Trên chuỗi thật độ trôi tự triệt tiêu; RL tìm chuỗi “lạ” để cộng dồn nó.</a:t>
            </a:r>
            <a:endParaRPr lang="en-US" sz="1250" dirty="0"/>
          </a:p>
        </p:txBody>
      </p:sp>
      <p:sp>
        <p:nvSpPr>
          <p:cNvPr id="11" name="Text 8"/>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Điều vẫn hiệu quả: RL học trong thế giới AFM</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Mức hơn ngẫu nhiên ở ba thế giới có trạng thái ẩn (điểm %) — mô phỏng</a:t>
            </a:r>
            <a:endParaRPr lang="en-US" sz="1300" dirty="0"/>
          </a:p>
        </p:txBody>
      </p:sp>
      <p:graphicFrame>
        <p:nvGraphicFramePr>
          <p:cNvPr id="4" name="Chart 0" descr=""/>
          <p:cNvGraphicFramePr/>
          <p:nvPr/>
        </p:nvGraphicFramePr>
        <p:xfrm>
          <a:off x="457200" y="1234440"/>
          <a:ext cx="5669280" cy="3429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325880"/>
            <a:ext cx="2331720" cy="3246120"/>
          </a:xfrm>
          <a:prstGeom prst="roundRect">
            <a:avLst>
              <a:gd name="adj" fmla="val 4706"/>
            </a:avLst>
          </a:prstGeom>
          <a:solidFill>
            <a:srgbClr val="D7EFEE"/>
          </a:solidFill>
          <a:ln w="12700">
            <a:solidFill>
              <a:srgbClr val="D7EFEE"/>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6492240" y="1463040"/>
            <a:ext cx="2057400" cy="3017520"/>
          </a:xfrm>
          <a:prstGeom prst="rect">
            <a:avLst/>
          </a:prstGeom>
          <a:noFill/>
          <a:ln/>
        </p:spPr>
        <p:txBody>
          <a:bodyPr wrap="square" lIns="0" tIns="0" rIns="0" bIns="0" rtlCol="0" anchor="t"/>
          <a:lstStyle/>
          <a:p>
            <a:pPr indent="0" marL="0">
              <a:buNone/>
            </a:pPr>
            <a:r>
              <a:rPr lang="en-US" sz="2800" b="1" dirty="0">
                <a:solidFill>
                  <a:srgbClr val="0E7C7B"/>
                </a:solidFill>
                <a:latin typeface="Cambria" pitchFamily="34" charset="0"/>
                <a:ea typeface="Cambria" pitchFamily="34" charset="-122"/>
                <a:cs typeface="Cambria" pitchFamily="34" charset="-120"/>
              </a:rPr>
              <a:t>+0,66</a:t>
            </a:r>
            <a:endParaRPr lang="en-US" sz="2800" dirty="0"/>
          </a:p>
          <a:p>
            <a:pPr indent="0" marL="0">
              <a:buNone/>
            </a:pPr>
            <a:r>
              <a:rPr lang="en-US" sz="1150" dirty="0">
                <a:solidFill>
                  <a:srgbClr val="13213C"/>
                </a:solidFill>
                <a:latin typeface="Calibri" pitchFamily="34" charset="0"/>
                <a:ea typeface="Calibri" pitchFamily="34" charset="-122"/>
                <a:cs typeface="Calibri" pitchFamily="34" charset="-120"/>
              </a:rPr>
              <a:t>trường hợp xấu nhất của DQN-AFM (tốt nhất mọi chính sách)</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2200" b="1" dirty="0">
                <a:solidFill>
                  <a:srgbClr val="13213C"/>
                </a:solidFill>
                <a:latin typeface="Cambria" pitchFamily="34" charset="0"/>
                <a:ea typeface="Cambria" pitchFamily="34" charset="-122"/>
                <a:cs typeface="Cambria" pitchFamily="34" charset="-120"/>
              </a:rPr>
              <a:t>6,4 so với 10,8</a:t>
            </a:r>
            <a:endParaRPr lang="en-US" sz="2800" dirty="0"/>
          </a:p>
          <a:p>
            <a:pPr indent="0" marL="0">
              <a:buNone/>
            </a:pPr>
            <a:r>
              <a:rPr lang="en-US" sz="1150" dirty="0">
                <a:solidFill>
                  <a:srgbClr val="13213C"/>
                </a:solidFill>
                <a:latin typeface="Calibri" pitchFamily="34" charset="0"/>
                <a:ea typeface="Calibri" pitchFamily="34" charset="-122"/>
                <a:cs typeface="Calibri" pitchFamily="34" charset="-120"/>
              </a:rPr>
              <a:t>lần nộp thêm / 10 bài (so với ngẫu nhiên)</a:t>
            </a:r>
            <a:endParaRPr lang="en-US" sz="2800" dirty="0"/>
          </a:p>
        </p:txBody>
      </p:sp>
      <p:sp>
        <p:nvSpPr>
          <p:cNvPr id="7" name="Text 4"/>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Demo ứng dụng: http://127.0.0.1:8773/#realdata</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Mô hình đã khóa và kiểm tra hash; học viên thật được ẩn danh</a:t>
            </a:r>
            <a:endParaRPr lang="en-US" sz="1300" dirty="0"/>
          </a:p>
        </p:txBody>
      </p:sp>
      <p:pic>
        <p:nvPicPr>
          <p:cNvPr id="4" name="Image 0" descr="E:\Sach\baiThayPhuc\BaiHong\paper\v3\slides\app_simulation.png">    </p:cNvPr>
          <p:cNvPicPr>
            <a:picLocks noChangeAspect="1"/>
          </p:cNvPicPr>
          <p:nvPr/>
        </p:nvPicPr>
        <p:blipFill>
          <a:blip r:embed="rId1"/>
          <a:stretch>
            <a:fillRect/>
          </a:stretch>
        </p:blipFill>
        <p:spPr>
          <a:xfrm>
            <a:off x="457200" y="1234440"/>
            <a:ext cx="5394960" cy="3035808"/>
          </a:xfrm>
          <a:prstGeom prst="rect">
            <a:avLst/>
          </a:prstGeom>
        </p:spPr>
      </p:pic>
      <p:sp>
        <p:nvSpPr>
          <p:cNvPr id="5" name="Shape 2"/>
          <p:cNvSpPr/>
          <p:nvPr/>
        </p:nvSpPr>
        <p:spPr>
          <a:xfrm>
            <a:off x="6126480" y="1280160"/>
            <a:ext cx="420624" cy="420624"/>
          </a:xfrm>
          <a:prstGeom prst="ellipse">
            <a:avLst/>
          </a:prstGeom>
          <a:solidFill>
            <a:srgbClr val="0E7C7B"/>
          </a:solidFill>
          <a:ln w="12700">
            <a:solidFill>
              <a:srgbClr val="0E7C7B"/>
            </a:solidFill>
            <a:prstDash val="solid"/>
          </a:ln>
        </p:spPr>
      </p:sp>
      <p:sp>
        <p:nvSpPr>
          <p:cNvPr id="6" name="Text 3"/>
          <p:cNvSpPr txBox="1"/>
          <p:nvPr/>
        </p:nvSpPr>
        <p:spPr>
          <a:xfrm>
            <a:off x="6126480" y="12801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6675120" y="1234440"/>
            <a:ext cx="2011680" cy="548640"/>
          </a:xfrm>
          <a:prstGeom prst="rect">
            <a:avLst/>
          </a:prstGeom>
          <a:noFill/>
          <a:ln/>
        </p:spPr>
        <p:txBody>
          <a:bodyPr wrap="square" lIns="0" tIns="0" rIns="0" bIns="0" rtlCol="0" anchor="ctr"/>
          <a:lstStyle/>
          <a:p>
            <a:pPr indent="0" marL="0">
              <a:buNone/>
            </a:pPr>
            <a:r>
              <a:rPr lang="en-US" sz="1150" dirty="0">
                <a:solidFill>
                  <a:srgbClr val="13213C"/>
                </a:solidFill>
                <a:latin typeface="Calibri" pitchFamily="34" charset="0"/>
                <a:ea typeface="Calibri" pitchFamily="34" charset="-122"/>
                <a:cs typeface="Calibri" pitchFamily="34" charset="-120"/>
              </a:rPr>
              <a:t>Chọn học viên L001–L060, xem chẩn đoán 10 kỹ năng</a:t>
            </a:r>
            <a:endParaRPr lang="en-US" sz="1150" dirty="0"/>
          </a:p>
        </p:txBody>
      </p:sp>
      <p:sp>
        <p:nvSpPr>
          <p:cNvPr id="8" name="Shape 5"/>
          <p:cNvSpPr/>
          <p:nvPr/>
        </p:nvSpPr>
        <p:spPr>
          <a:xfrm>
            <a:off x="6126480" y="2057400"/>
            <a:ext cx="420624" cy="420624"/>
          </a:xfrm>
          <a:prstGeom prst="ellipse">
            <a:avLst/>
          </a:prstGeom>
          <a:solidFill>
            <a:srgbClr val="0E7C7B"/>
          </a:solidFill>
          <a:ln w="12700">
            <a:solidFill>
              <a:srgbClr val="0E7C7B"/>
            </a:solidFill>
            <a:prstDash val="solid"/>
          </a:ln>
        </p:spPr>
      </p:sp>
      <p:sp>
        <p:nvSpPr>
          <p:cNvPr id="9" name="Text 6"/>
          <p:cNvSpPr txBox="1"/>
          <p:nvPr/>
        </p:nvSpPr>
        <p:spPr>
          <a:xfrm>
            <a:off x="6126480" y="20574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7"/>
          <p:cNvSpPr txBox="1"/>
          <p:nvPr/>
        </p:nvSpPr>
        <p:spPr>
          <a:xfrm>
            <a:off x="6675120" y="2011680"/>
            <a:ext cx="2011680" cy="548640"/>
          </a:xfrm>
          <a:prstGeom prst="rect">
            <a:avLst/>
          </a:prstGeom>
          <a:noFill/>
          <a:ln/>
        </p:spPr>
        <p:txBody>
          <a:bodyPr wrap="square" lIns="0" tIns="0" rIns="0" bIns="0" rtlCol="0" anchor="ctr"/>
          <a:lstStyle/>
          <a:p>
            <a:pPr indent="0" marL="0">
              <a:buNone/>
            </a:pPr>
            <a:r>
              <a:rPr lang="en-US" sz="1150" dirty="0">
                <a:solidFill>
                  <a:srgbClr val="13213C"/>
                </a:solidFill>
                <a:latin typeface="Calibri" pitchFamily="34" charset="0"/>
                <a:ea typeface="Calibri" pitchFamily="34" charset="-122"/>
                <a:cs typeface="Calibri" pitchFamily="34" charset="-120"/>
              </a:rPr>
              <a:t>Xem 14 chính sách chọn bài nào và vì sao</a:t>
            </a:r>
            <a:endParaRPr lang="en-US" sz="1150" dirty="0"/>
          </a:p>
        </p:txBody>
      </p:sp>
      <p:sp>
        <p:nvSpPr>
          <p:cNvPr id="11" name="Shape 8"/>
          <p:cNvSpPr/>
          <p:nvPr/>
        </p:nvSpPr>
        <p:spPr>
          <a:xfrm>
            <a:off x="6126480" y="2834640"/>
            <a:ext cx="420624" cy="420624"/>
          </a:xfrm>
          <a:prstGeom prst="ellipse">
            <a:avLst/>
          </a:prstGeom>
          <a:solidFill>
            <a:srgbClr val="0E7C7B"/>
          </a:solidFill>
          <a:ln w="12700">
            <a:solidFill>
              <a:srgbClr val="0E7C7B"/>
            </a:solidFill>
            <a:prstDash val="solid"/>
          </a:ln>
        </p:spPr>
      </p:sp>
      <p:sp>
        <p:nvSpPr>
          <p:cNvPr id="12" name="Text 9"/>
          <p:cNvSpPr txBox="1"/>
          <p:nvPr/>
        </p:nvSpPr>
        <p:spPr>
          <a:xfrm>
            <a:off x="6126480" y="28346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0"/>
          <p:cNvSpPr txBox="1"/>
          <p:nvPr/>
        </p:nvSpPr>
        <p:spPr>
          <a:xfrm>
            <a:off x="6675120" y="2788920"/>
            <a:ext cx="2011680" cy="548640"/>
          </a:xfrm>
          <a:prstGeom prst="rect">
            <a:avLst/>
          </a:prstGeom>
          <a:noFill/>
          <a:ln/>
        </p:spPr>
        <p:txBody>
          <a:bodyPr wrap="square" lIns="0" tIns="0" rIns="0" bIns="0" rtlCol="0" anchor="ctr"/>
          <a:lstStyle/>
          <a:p>
            <a:pPr indent="0" marL="0">
              <a:buNone/>
            </a:pPr>
            <a:r>
              <a:rPr lang="en-US" sz="1150" dirty="0">
                <a:solidFill>
                  <a:srgbClr val="13213C"/>
                </a:solidFill>
                <a:latin typeface="Calibri" pitchFamily="34" charset="0"/>
                <a:ea typeface="Calibri" pitchFamily="34" charset="-122"/>
                <a:cs typeface="Calibri" pitchFamily="34" charset="-120"/>
              </a:rPr>
              <a:t>Bấm ô kết quả để giả định đúng/sai → quyết định đổi</a:t>
            </a:r>
            <a:endParaRPr lang="en-US" sz="1150" dirty="0"/>
          </a:p>
        </p:txBody>
      </p:sp>
      <p:sp>
        <p:nvSpPr>
          <p:cNvPr id="14" name="Shape 11"/>
          <p:cNvSpPr/>
          <p:nvPr/>
        </p:nvSpPr>
        <p:spPr>
          <a:xfrm>
            <a:off x="6126480" y="3611880"/>
            <a:ext cx="420624" cy="420624"/>
          </a:xfrm>
          <a:prstGeom prst="ellipse">
            <a:avLst/>
          </a:prstGeom>
          <a:solidFill>
            <a:srgbClr val="E4572E"/>
          </a:solidFill>
          <a:ln w="12700">
            <a:solidFill>
              <a:srgbClr val="E4572E"/>
            </a:solidFill>
            <a:prstDash val="solid"/>
          </a:ln>
        </p:spPr>
      </p:sp>
      <p:sp>
        <p:nvSpPr>
          <p:cNvPr id="15" name="Text 12"/>
          <p:cNvSpPr txBox="1"/>
          <p:nvPr/>
        </p:nvSpPr>
        <p:spPr>
          <a:xfrm>
            <a:off x="6126480" y="3611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3"/>
          <p:cNvSpPr txBox="1"/>
          <p:nvPr/>
        </p:nvSpPr>
        <p:spPr>
          <a:xfrm>
            <a:off x="6675120" y="3566160"/>
            <a:ext cx="2011680" cy="548640"/>
          </a:xfrm>
          <a:prstGeom prst="rect">
            <a:avLst/>
          </a:prstGeom>
          <a:noFill/>
          <a:ln/>
        </p:spPr>
        <p:txBody>
          <a:bodyPr wrap="square" lIns="0" tIns="0" rIns="0" bIns="0" rtlCol="0" anchor="ctr"/>
          <a:lstStyle/>
          <a:p>
            <a:pPr indent="0" marL="0">
              <a:buNone/>
            </a:pPr>
            <a:r>
              <a:rPr lang="en-US" sz="1150" dirty="0">
                <a:solidFill>
                  <a:srgbClr val="13213C"/>
                </a:solidFill>
                <a:latin typeface="Calibri" pitchFamily="34" charset="0"/>
                <a:ea typeface="Calibri" pitchFamily="34" charset="-122"/>
                <a:cs typeface="Calibri" pitchFamily="34" charset="-120"/>
              </a:rPr>
              <a:t>Chạy 10 bước ở IRT-B: thật 0,00 · DKT tự báo lớn</a:t>
            </a:r>
            <a:endParaRPr lang="en-US" sz="1150" dirty="0"/>
          </a:p>
        </p:txBody>
      </p:sp>
      <p:sp>
        <p:nvSpPr>
          <p:cNvPr id="17" name="Text 14"/>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13C"/>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Kết luận và khuyến nghị</a:t>
            </a:r>
            <a:endParaRPr lang="en-US" sz="2800" dirty="0"/>
          </a:p>
        </p:txBody>
      </p:sp>
      <p:sp>
        <p:nvSpPr>
          <p:cNvPr id="3" name="Shape 1"/>
          <p:cNvSpPr/>
          <p:nvPr/>
        </p:nvSpPr>
        <p:spPr>
          <a:xfrm>
            <a:off x="548640" y="1234440"/>
            <a:ext cx="3840480" cy="1280160"/>
          </a:xfrm>
          <a:prstGeom prst="roundRect">
            <a:avLst>
              <a:gd name="adj" fmla="val 8571"/>
            </a:avLst>
          </a:prstGeom>
          <a:solidFill>
            <a:srgbClr val="1D2E4F"/>
          </a:solidFill>
          <a:ln w="12700">
            <a:solidFill>
              <a:srgbClr val="2C3F63"/>
            </a:solidFill>
            <a:prstDash val="solid"/>
          </a:ln>
        </p:spPr>
      </p:sp>
      <p:sp>
        <p:nvSpPr>
          <p:cNvPr id="4" name="Shape 2"/>
          <p:cNvSpPr/>
          <p:nvPr/>
        </p:nvSpPr>
        <p:spPr>
          <a:xfrm>
            <a:off x="731520" y="1417320"/>
            <a:ext cx="420624" cy="420624"/>
          </a:xfrm>
          <a:prstGeom prst="ellipse">
            <a:avLst/>
          </a:prstGeom>
          <a:solidFill>
            <a:srgbClr val="E4572E"/>
          </a:solidFill>
          <a:ln w="12700">
            <a:solidFill>
              <a:srgbClr val="E4572E"/>
            </a:solidFill>
            <a:prstDash val="solid"/>
          </a:ln>
        </p:spPr>
      </p:sp>
      <p:sp>
        <p:nvSpPr>
          <p:cNvPr id="5" name="Text 3"/>
          <p:cNvSpPr txBox="1"/>
          <p:nvPr/>
        </p:nvSpPr>
        <p:spPr>
          <a:xfrm>
            <a:off x="731520" y="14173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80160" y="1399032"/>
            <a:ext cx="29260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Đối chứng âm</a:t>
            </a:r>
            <a:endParaRPr lang="en-US" sz="1700" dirty="0"/>
          </a:p>
        </p:txBody>
      </p:sp>
      <p:sp>
        <p:nvSpPr>
          <p:cNvPr id="7" name="Text 5"/>
          <p:cNvSpPr txBox="1"/>
          <p:nvPr/>
        </p:nvSpPr>
        <p:spPr>
          <a:xfrm>
            <a:off x="1280160" y="1828800"/>
            <a:ext cx="2971800" cy="64008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Luôn đánh giá chính sách trong một thế giới không có học; mọi tiến bộ ở đó là ảo.</a:t>
            </a:r>
            <a:endParaRPr lang="en-US" sz="1200" dirty="0"/>
          </a:p>
        </p:txBody>
      </p:sp>
      <p:sp>
        <p:nvSpPr>
          <p:cNvPr id="8" name="Shape 6"/>
          <p:cNvSpPr/>
          <p:nvPr/>
        </p:nvSpPr>
        <p:spPr>
          <a:xfrm>
            <a:off x="4617720" y="1234440"/>
            <a:ext cx="3840480" cy="1280160"/>
          </a:xfrm>
          <a:prstGeom prst="roundRect">
            <a:avLst>
              <a:gd name="adj" fmla="val 8571"/>
            </a:avLst>
          </a:prstGeom>
          <a:solidFill>
            <a:srgbClr val="1D2E4F"/>
          </a:solidFill>
          <a:ln w="12700">
            <a:solidFill>
              <a:srgbClr val="2C3F63"/>
            </a:solidFill>
            <a:prstDash val="solid"/>
          </a:ln>
        </p:spPr>
      </p:sp>
      <p:sp>
        <p:nvSpPr>
          <p:cNvPr id="9" name="Shape 7"/>
          <p:cNvSpPr/>
          <p:nvPr/>
        </p:nvSpPr>
        <p:spPr>
          <a:xfrm>
            <a:off x="4800600" y="1417320"/>
            <a:ext cx="420624" cy="420624"/>
          </a:xfrm>
          <a:prstGeom prst="ellipse">
            <a:avLst/>
          </a:prstGeom>
          <a:solidFill>
            <a:srgbClr val="0E7C7B"/>
          </a:solidFill>
          <a:ln w="12700">
            <a:solidFill>
              <a:srgbClr val="0E7C7B"/>
            </a:solidFill>
            <a:prstDash val="solid"/>
          </a:ln>
        </p:spPr>
      </p:sp>
      <p:sp>
        <p:nvSpPr>
          <p:cNvPr id="10" name="Text 8"/>
          <p:cNvSpPr txBox="1"/>
          <p:nvPr/>
        </p:nvSpPr>
        <p:spPr>
          <a:xfrm>
            <a:off x="4800600" y="14173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349240" y="1399032"/>
            <a:ext cx="29260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Tách độ trôi</a:t>
            </a:r>
            <a:endParaRPr lang="en-US" sz="1700" dirty="0"/>
          </a:p>
        </p:txBody>
      </p:sp>
      <p:sp>
        <p:nvSpPr>
          <p:cNvPr id="12" name="Text 10"/>
          <p:cNvSpPr txBox="1"/>
          <p:nvPr/>
        </p:nvSpPr>
        <p:spPr>
          <a:xfrm>
            <a:off x="5349240" y="1828800"/>
            <a:ext cx="2971800" cy="64008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Báo cáo tiến bộ tracker = độ trôi + bất ngờ; độ trôi lớn là dấu hiệu bị khai thác.</a:t>
            </a:r>
            <a:endParaRPr lang="en-US" sz="1200" dirty="0"/>
          </a:p>
        </p:txBody>
      </p:sp>
      <p:sp>
        <p:nvSpPr>
          <p:cNvPr id="13" name="Shape 11"/>
          <p:cNvSpPr/>
          <p:nvPr/>
        </p:nvSpPr>
        <p:spPr>
          <a:xfrm>
            <a:off x="548640" y="2697480"/>
            <a:ext cx="3840480" cy="1280160"/>
          </a:xfrm>
          <a:prstGeom prst="roundRect">
            <a:avLst>
              <a:gd name="adj" fmla="val 8571"/>
            </a:avLst>
          </a:prstGeom>
          <a:solidFill>
            <a:srgbClr val="1D2E4F"/>
          </a:solidFill>
          <a:ln w="12700">
            <a:solidFill>
              <a:srgbClr val="2C3F63"/>
            </a:solidFill>
            <a:prstDash val="solid"/>
          </a:ln>
        </p:spPr>
      </p:sp>
      <p:sp>
        <p:nvSpPr>
          <p:cNvPr id="14" name="Shape 12"/>
          <p:cNvSpPr/>
          <p:nvPr/>
        </p:nvSpPr>
        <p:spPr>
          <a:xfrm>
            <a:off x="731520" y="2880360"/>
            <a:ext cx="420624" cy="420624"/>
          </a:xfrm>
          <a:prstGeom prst="ellipse">
            <a:avLst/>
          </a:prstGeom>
          <a:solidFill>
            <a:srgbClr val="0E7C7B"/>
          </a:solidFill>
          <a:ln w="12700">
            <a:solidFill>
              <a:srgbClr val="0E7C7B"/>
            </a:solidFill>
            <a:prstDash val="solid"/>
          </a:ln>
        </p:spPr>
      </p:sp>
      <p:sp>
        <p:nvSpPr>
          <p:cNvPr id="15" name="Text 13"/>
          <p:cNvSpPr txBox="1"/>
          <p:nvPr/>
        </p:nvSpPr>
        <p:spPr>
          <a:xfrm>
            <a:off x="731520" y="2880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280160" y="2862072"/>
            <a:ext cx="29260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Thế giới độc lập</a:t>
            </a:r>
            <a:endParaRPr lang="en-US" sz="1700" dirty="0"/>
          </a:p>
        </p:txBody>
      </p:sp>
      <p:sp>
        <p:nvSpPr>
          <p:cNvPr id="17" name="Text 15"/>
          <p:cNvSpPr txBox="1"/>
          <p:nvPr/>
        </p:nvSpPr>
        <p:spPr>
          <a:xfrm>
            <a:off x="1280160" y="3291840"/>
            <a:ext cx="2971800" cy="64008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Đánh giá trên thế giới fit từ người học khác và có cấu trúc học tường minh.</a:t>
            </a:r>
            <a:endParaRPr lang="en-US" sz="1200" dirty="0"/>
          </a:p>
        </p:txBody>
      </p:sp>
      <p:sp>
        <p:nvSpPr>
          <p:cNvPr id="18" name="Shape 16"/>
          <p:cNvSpPr/>
          <p:nvPr/>
        </p:nvSpPr>
        <p:spPr>
          <a:xfrm>
            <a:off x="4617720" y="2697480"/>
            <a:ext cx="3840480" cy="1280160"/>
          </a:xfrm>
          <a:prstGeom prst="roundRect">
            <a:avLst>
              <a:gd name="adj" fmla="val 8571"/>
            </a:avLst>
          </a:prstGeom>
          <a:solidFill>
            <a:srgbClr val="1D2E4F"/>
          </a:solidFill>
          <a:ln w="12700">
            <a:solidFill>
              <a:srgbClr val="2C3F63"/>
            </a:solidFill>
            <a:prstDash val="solid"/>
          </a:ln>
        </p:spPr>
      </p:sp>
      <p:sp>
        <p:nvSpPr>
          <p:cNvPr id="19" name="Shape 17"/>
          <p:cNvSpPr/>
          <p:nvPr/>
        </p:nvSpPr>
        <p:spPr>
          <a:xfrm>
            <a:off x="4800600" y="2880360"/>
            <a:ext cx="420624" cy="420624"/>
          </a:xfrm>
          <a:prstGeom prst="ellipse">
            <a:avLst/>
          </a:prstGeom>
          <a:solidFill>
            <a:srgbClr val="0E7C7B"/>
          </a:solidFill>
          <a:ln w="12700">
            <a:solidFill>
              <a:srgbClr val="0E7C7B"/>
            </a:solidFill>
            <a:prstDash val="solid"/>
          </a:ln>
        </p:spPr>
      </p:sp>
      <p:sp>
        <p:nvSpPr>
          <p:cNvPr id="20" name="Text 18"/>
          <p:cNvSpPr txBox="1"/>
          <p:nvPr/>
        </p:nvSpPr>
        <p:spPr>
          <a:xfrm>
            <a:off x="4800600" y="2880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5349240" y="2862072"/>
            <a:ext cx="29260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Fit lại khác seed</a:t>
            </a:r>
            <a:endParaRPr lang="en-US" sz="1700" dirty="0"/>
          </a:p>
        </p:txBody>
      </p:sp>
      <p:sp>
        <p:nvSpPr>
          <p:cNvPr id="22" name="Text 20"/>
          <p:cNvSpPr txBox="1"/>
          <p:nvPr/>
        </p:nvSpPr>
        <p:spPr>
          <a:xfrm>
            <a:off x="5349240" y="3291840"/>
            <a:ext cx="2971800" cy="64008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Hai mô hình dự báo ngang nhau có thể bất đồng về việc bài nào “dạy”.</a:t>
            </a:r>
            <a:endParaRPr lang="en-US" sz="1200" dirty="0"/>
          </a:p>
        </p:txBody>
      </p:sp>
      <p:sp>
        <p:nvSpPr>
          <p:cNvPr id="23" name="Text 21"/>
          <p:cNvSpPr txBox="1"/>
          <p:nvPr/>
        </p:nvSpPr>
        <p:spPr>
          <a:xfrm>
            <a:off x="548640" y="4343400"/>
            <a:ext cx="8046720" cy="320040"/>
          </a:xfrm>
          <a:prstGeom prst="rect">
            <a:avLst/>
          </a:prstGeom>
          <a:noFill/>
          <a:ln/>
        </p:spPr>
        <p:txBody>
          <a:bodyPr wrap="square" lIns="0" tIns="0" rIns="0" bIns="0" rtlCol="0" anchor="ctr"/>
          <a:lstStyle/>
          <a:p>
            <a:pPr indent="0" marL="0">
              <a:buNone/>
            </a:pPr>
            <a:r>
              <a:rPr lang="en-US" sz="1200" i="1" dirty="0">
                <a:solidFill>
                  <a:srgbClr val="8FD3CF"/>
                </a:solidFill>
                <a:latin typeface="Calibri" pitchFamily="34" charset="0"/>
                <a:ea typeface="Calibri" pitchFamily="34" charset="-122"/>
                <a:cs typeface="Calibri" pitchFamily="34" charset="-120"/>
              </a:rPr>
              <a:t>Mọi tiến bộ của chính sách là mô phỏng; chưa có thử nghiệm với sinh viên thật.</a:t>
            </a:r>
            <a:endParaRPr lang="en-US" sz="1200" dirty="0"/>
          </a:p>
        </p:txBody>
      </p:sp>
      <p:sp>
        <p:nvSpPr>
          <p:cNvPr id="24" name="Text 22"/>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9AA7BD"/>
                </a:solidFill>
                <a:latin typeface="Calibri" pitchFamily="34" charset="0"/>
                <a:ea typeface="Calibri" pitchFamily="34" charset="-122"/>
                <a:cs typeface="Calibri" pitchFamily="34" charset="-120"/>
              </a:rPr>
              <a:t>Đề 4 · Nghiên cứu v3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Giới hạn và bước tiếp theo</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Trình bày đúng mức bằng chứng</a:t>
            </a:r>
            <a:endParaRPr lang="en-US" sz="1300" dirty="0"/>
          </a:p>
        </p:txBody>
      </p:sp>
      <p:sp>
        <p:nvSpPr>
          <p:cNvPr id="4" name="Shape 2"/>
          <p:cNvSpPr/>
          <p:nvPr/>
        </p:nvSpPr>
        <p:spPr>
          <a:xfrm>
            <a:off x="457200" y="1280160"/>
            <a:ext cx="3977640" cy="3246120"/>
          </a:xfrm>
          <a:prstGeom prst="roundRect">
            <a:avLst>
              <a:gd name="adj" fmla="val 3380"/>
            </a:avLst>
          </a:prstGeom>
          <a:solidFill>
            <a:srgbClr val="F3F5F8"/>
          </a:solidFill>
          <a:ln w="12700">
            <a:solidFill>
              <a:srgbClr val="F3F5F8"/>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85800" y="1417320"/>
            <a:ext cx="3566160" cy="365760"/>
          </a:xfrm>
          <a:prstGeom prst="rect">
            <a:avLst/>
          </a:prstGeom>
          <a:noFill/>
          <a:ln/>
        </p:spPr>
        <p:txBody>
          <a:bodyPr wrap="square" lIns="0" tIns="0" rIns="0" bIns="0" rtlCol="0" anchor="ctr"/>
          <a:lstStyle/>
          <a:p>
            <a:pPr indent="0" marL="0">
              <a:buNone/>
            </a:pPr>
            <a:r>
              <a:rPr lang="en-US" sz="1700" b="1" dirty="0">
                <a:solidFill>
                  <a:srgbClr val="13213C"/>
                </a:solidFill>
                <a:latin typeface="Cambria" pitchFamily="34" charset="0"/>
                <a:ea typeface="Cambria" pitchFamily="34" charset="-122"/>
                <a:cs typeface="Cambria" pitchFamily="34" charset="-120"/>
              </a:rPr>
              <a:t>Giới hạn</a:t>
            </a:r>
            <a:endParaRPr lang="en-US" sz="1700" dirty="0"/>
          </a:p>
        </p:txBody>
      </p:sp>
      <p:sp>
        <p:nvSpPr>
          <p:cNvPr id="6" name="Text 4"/>
          <p:cNvSpPr txBox="1"/>
          <p:nvPr/>
        </p:nvSpPr>
        <p:spPr>
          <a:xfrm>
            <a:off x="685800" y="182880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Một nền tảng (ACcoding) và một họ môn học</a:t>
            </a:r>
            <a:endParaRPr lang="en-US" sz="1300" dirty="0"/>
          </a:p>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Tiến bộ chính sách là mô phỏng; thế giới ZPD là giả định</a:t>
            </a:r>
            <a:endParaRPr lang="en-US" sz="1300" dirty="0"/>
          </a:p>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Con trỏ chỉ có 1 bài luyện (dữ liệu thưa)</a:t>
            </a:r>
            <a:endParaRPr lang="en-US" sz="1300" dirty="0"/>
          </a:p>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Công sức đo bằng số lần nộp, không phải thời gian</a:t>
            </a:r>
            <a:endParaRPr lang="en-US" sz="1300" dirty="0"/>
          </a:p>
        </p:txBody>
      </p:sp>
      <p:sp>
        <p:nvSpPr>
          <p:cNvPr id="7" name="Shape 5"/>
          <p:cNvSpPr/>
          <p:nvPr/>
        </p:nvSpPr>
        <p:spPr>
          <a:xfrm>
            <a:off x="4709160" y="1280160"/>
            <a:ext cx="3977640" cy="3246120"/>
          </a:xfrm>
          <a:prstGeom prst="roundRect">
            <a:avLst>
              <a:gd name="adj" fmla="val 3380"/>
            </a:avLst>
          </a:prstGeom>
          <a:solidFill>
            <a:srgbClr val="D7EFEE"/>
          </a:solidFill>
          <a:ln w="12700">
            <a:solidFill>
              <a:srgbClr val="D7EFEE"/>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4937760" y="1417320"/>
            <a:ext cx="3566160" cy="365760"/>
          </a:xfrm>
          <a:prstGeom prst="rect">
            <a:avLst/>
          </a:prstGeom>
          <a:noFill/>
          <a:ln/>
        </p:spPr>
        <p:txBody>
          <a:bodyPr wrap="square" lIns="0" tIns="0" rIns="0" bIns="0" rtlCol="0" anchor="ctr"/>
          <a:lstStyle/>
          <a:p>
            <a:pPr indent="0" marL="0">
              <a:buNone/>
            </a:pPr>
            <a:r>
              <a:rPr lang="en-US" sz="1700" b="1" dirty="0">
                <a:solidFill>
                  <a:srgbClr val="0E7C7B"/>
                </a:solidFill>
                <a:latin typeface="Cambria" pitchFamily="34" charset="0"/>
                <a:ea typeface="Cambria" pitchFamily="34" charset="-122"/>
                <a:cs typeface="Cambria" pitchFamily="34" charset="-120"/>
              </a:rPr>
              <a:t>Tiếp theo</a:t>
            </a:r>
            <a:endParaRPr lang="en-US" sz="1700" dirty="0"/>
          </a:p>
        </p:txBody>
      </p:sp>
      <p:sp>
        <p:nvSpPr>
          <p:cNvPr id="9" name="Text 7"/>
          <p:cNvSpPr txBox="1"/>
          <p:nvPr/>
        </p:nvSpPr>
        <p:spPr>
          <a:xfrm>
            <a:off x="4937760" y="182880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Lặp lại trên bộ dữ liệu thứ hai (CodeBench, Python)</a:t>
            </a:r>
            <a:endParaRPr lang="en-US" sz="1300" dirty="0"/>
          </a:p>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Thử nghiệm có đối chứng với sinh viên thật</a:t>
            </a:r>
            <a:endParaRPr lang="en-US" sz="1300" dirty="0"/>
          </a:p>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Huấn luyện tác tử bi quan theo bất đồng giữa các simulator</a:t>
            </a:r>
            <a:endParaRPr lang="en-US" sz="1300" dirty="0"/>
          </a:p>
          <a:p>
            <a:pPr marL="342900" indent="-342900">
              <a:spcAft>
                <a:spcPts val="600"/>
              </a:spcAft>
              <a:buSzPct val="100000"/>
              <a:buChar char="•"/>
            </a:pPr>
            <a:r>
              <a:rPr lang="en-US" sz="1300" dirty="0">
                <a:solidFill>
                  <a:srgbClr val="3B4A63"/>
                </a:solidFill>
                <a:latin typeface="Calibri" pitchFamily="34" charset="0"/>
                <a:ea typeface="Calibri" pitchFamily="34" charset="-122"/>
                <a:cs typeface="Calibri" pitchFamily="34" charset="-120"/>
              </a:rPr>
              <a:t>Hoàn thiện bản thảo gửi tạp chí (C&amp;E: AI / IJAIED)</a:t>
            </a:r>
            <a:endParaRPr lang="en-US" sz="1300" dirty="0"/>
          </a:p>
        </p:txBody>
      </p:sp>
      <p:sp>
        <p:nvSpPr>
          <p:cNvPr id="10" name="Text 8"/>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3213C"/>
                </a:solidFill>
                <a:latin typeface="Cambria" pitchFamily="34" charset="0"/>
                <a:ea typeface="Cambria" pitchFamily="34" charset="-122"/>
                <a:cs typeface="Cambria" pitchFamily="34" charset="-120"/>
              </a:rPr>
              <a:t>Tài liệu chính</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Danh mục đầy đủ trong paper/v3/references.bib (đã kiểm tra DOI)</a:t>
            </a:r>
            <a:endParaRPr lang="en-US" sz="1300" dirty="0"/>
          </a:p>
        </p:txBody>
      </p:sp>
      <p:sp>
        <p:nvSpPr>
          <p:cNvPr id="4" name="Text 2"/>
          <p:cNvSpPr txBox="1"/>
          <p:nvPr/>
        </p:nvSpPr>
        <p:spPr>
          <a:xfrm>
            <a:off x="457200" y="1234440"/>
            <a:ext cx="8229600" cy="31089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Chen et al. (2024). ACcoding: A graph-based dataset for online judge programming. Scientific Data 11, 548.</a:t>
            </a:r>
            <a:endParaRPr lang="en-US" sz="1250" dirty="0"/>
          </a:p>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Piech et al. (2015). Deep Knowledge Tracing. NeurIPS 28.</a:t>
            </a:r>
            <a:endParaRPr lang="en-US" sz="1250" dirty="0"/>
          </a:p>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Pandey &amp; Karypis (2019). A Self-Attentive Model for Knowledge Tracing. EDM.</a:t>
            </a:r>
            <a:endParaRPr lang="en-US" sz="1250" dirty="0"/>
          </a:p>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Doroudi, Aleven &amp; Brunskill (2017). Robust Evaluation Matrix. L@S.</a:t>
            </a:r>
            <a:endParaRPr lang="en-US" sz="1250" dirty="0"/>
          </a:p>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Doroudi, Aleven &amp; Brunskill (2019). Where's the Reward? IJAIED 29(4).</a:t>
            </a:r>
            <a:endParaRPr lang="en-US" sz="1250" dirty="0"/>
          </a:p>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Ozyurt et al. (2025). ExRec: Personalized Exercise Recommendation with Semantically-Grounded KT. NeurIPS 38.</a:t>
            </a:r>
            <a:endParaRPr lang="en-US" sz="1250" dirty="0"/>
          </a:p>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Lipsitch et al. (2010). Negative Controls. Epidemiology 21(3).</a:t>
            </a:r>
            <a:endParaRPr lang="en-US" sz="1250" dirty="0"/>
          </a:p>
          <a:p>
            <a:pPr marL="342900" indent="-342900">
              <a:spcAft>
                <a:spcPts val="500"/>
              </a:spcAft>
              <a:buSzPct val="100000"/>
              <a:buChar char="•"/>
            </a:pPr>
            <a:r>
              <a:rPr lang="en-US" sz="1250" dirty="0">
                <a:solidFill>
                  <a:srgbClr val="3B4A63"/>
                </a:solidFill>
                <a:latin typeface="Calibri" pitchFamily="34" charset="0"/>
                <a:ea typeface="Calibri" pitchFamily="34" charset="-122"/>
                <a:cs typeface="Calibri" pitchFamily="34" charset="-120"/>
              </a:rPr>
              <a:t>D'Amour et al. (2022). Underspecification. JMLR 23(226).</a:t>
            </a:r>
            <a:endParaRPr lang="en-US" sz="1250" dirty="0"/>
          </a:p>
        </p:txBody>
      </p:sp>
      <p:sp>
        <p:nvSpPr>
          <p:cNvPr id="5" name="Text 3"/>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1800" b="1" dirty="0">
                <a:solidFill>
                  <a:srgbClr val="0E7C7B"/>
                </a:solidFill>
                <a:latin typeface="Cambria" pitchFamily="34" charset="0"/>
                <a:ea typeface="Cambria" pitchFamily="34" charset="-122"/>
                <a:cs typeface="Cambria" pitchFamily="34" charset="-120"/>
              </a:rPr>
              <a:t>Cảm ơn thầy và các bạn đã lắng nghe!</a:t>
            </a:r>
            <a:endParaRPr lang="en-US" sz="1800" dirty="0"/>
          </a:p>
        </p:txBody>
      </p:sp>
      <p:sp>
        <p:nvSpPr>
          <p:cNvPr id="6" name="Text 4"/>
          <p:cNvSpPr txBox="1"/>
          <p:nvPr/>
        </p:nvSpPr>
        <p:spPr>
          <a:xfrm>
            <a:off x="6766560" y="4818888"/>
            <a:ext cx="19202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Đề 4 · Nghiên cứu v3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Tác tử chọn bài tập lập trình học từ dữ liệu thật</dc:title>
  <dc:subject>PptxGenJS Presentation</dc:subject>
  <dc:creator>Nhóm đề tài 4</dc:creator>
  <cp:lastModifiedBy>Nhóm đề tài 4</cp:lastModifiedBy>
  <cp:revision>1</cp:revision>
  <dcterms:created xsi:type="dcterms:W3CDTF">2026-09-28T15:27:38Z</dcterms:created>
  <dcterms:modified xsi:type="dcterms:W3CDTF">2026-09-28T15:27:38Z</dcterms:modified>
</cp:coreProperties>
</file>